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engineers seeing Yeaft for the first time. The central promise is inspectability, not guaranteed autonomous success. All UI data in this deck is staged; the inspection command is captured by the screenshot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questions a team needs to answer, not claims that competing tools always lose context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connects through Server authentication and relay to a local Agent. Session is the conversation unit with 1..N VPs. Work Center has its own WorkItems/Actions/Runs and storage; this is not a shared task identity or automatic Session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throughout slides 4–11: inspect agent/yeaft/session.js and run node --check. This is a read-only syntax inspection, not a code change, integration test, approved patch, or production delivery. Screenshot must show the user request and corresponding named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must show both a roster and readable named contributions. The demonstration is not evidence that these VPs performed a real independent review of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configurable collaboration example. Linus and Martin illustrate separate responsibilities, not a fixed product workflow or a claim that multiple VPs automatically guarantee independent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routing transfers responsibility. These are recommended review handoff fields, not an automatic runtime proof that a reviewer is independent. Real approval for this deck belongs in the PR audit, not this staged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Files and Terminal components from the screenshot manifest source revision. Transport is staged. Terminal output replays the actual local syntax check collected by the script. The syntax command does not verify runtime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Center is a separate durable execution system. This staged WorkItem continues the inspection scenario as an example of an explicitly created long-running goal; no automatic transfer of Session identity, shared transcript, or guaranteed successful completion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has dependency/workspace conflict constraints, but read mode is not a sandbox: it does not filter write tools. No promise of complete isolation or success. The example syntax check has not satisfied behavioral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inspection example handoff, not the release evidence for this presentation. No source was changed by the example. Actual capture revision and command exit status are recorded in assets/capture-manifest.json; staged reviewer text is not independent PR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entry point is the canonical repository README, which contains current setup instructions. This link is independent of any locally running server or demo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ITORIAL">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594360" y="274320"/>
            <a:ext cx="914400" cy="182880"/>
          </a:xfrm>
          <a:prstGeom prst="rect">
            <a:avLst/>
          </a:prstGeom>
          <a:noFill/>
          <a:ln/>
        </p:spPr>
        <p:txBody>
          <a:bodyPr wrap="square" lIns="0" tIns="0" rIns="0" bIns="0" rtlCol="0" anchor="ctr"/>
          <a:lstStyle/>
          <a:p>
            <a:pPr indent="0" marL="0">
              <a:buNone/>
            </a:pPr>
            <a:r>
              <a:rPr lang="en-US" sz="1000" b="1" spc="200" kern="0" dirty="0">
                <a:solidFill>
                  <a:srgbClr val="1D1D1B"/>
                </a:solidFill>
              </a:rPr>
              <a:t>YEAFT</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yeaft/yeaft-web-code-agent#readme"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40080" y="950976"/>
            <a:ext cx="10698480" cy="237744"/>
          </a:xfrm>
          <a:prstGeom prst="rect">
            <a:avLst/>
          </a:prstGeom>
          <a:noFill/>
          <a:ln/>
        </p:spPr>
        <p:txBody>
          <a:bodyPr wrap="square" lIns="0" tIns="0" rIns="0" bIns="0" rtlCol="0" anchor="ctr"/>
          <a:lstStyle/>
          <a:p>
            <a:pPr indent="0" marL="0">
              <a:buNone/>
            </a:pPr>
            <a:r>
              <a:rPr lang="en-US" sz="1200" b="1" spc="130" kern="0" dirty="0">
                <a:solidFill>
                  <a:srgbClr val="8B5E3C"/>
                </a:solidFill>
              </a:rPr>
              <a:t>FROM REQUEST TO EVIDENCE</a:t>
            </a:r>
            <a:endParaRPr lang="en-US" sz="1200" dirty="0"/>
          </a:p>
        </p:txBody>
      </p:sp>
      <p:sp>
        <p:nvSpPr>
          <p:cNvPr id="4" name="Text 1"/>
          <p:cNvSpPr/>
          <p:nvPr/>
        </p:nvSpPr>
        <p:spPr>
          <a:xfrm>
            <a:off x="640080" y="1645920"/>
            <a:ext cx="10652760" cy="1481328"/>
          </a:xfrm>
          <a:prstGeom prst="rect">
            <a:avLst/>
          </a:prstGeom>
          <a:noFill/>
          <a:ln/>
        </p:spPr>
        <p:txBody>
          <a:bodyPr wrap="square" lIns="0" tIns="0" rIns="0" bIns="0" rtlCol="0" anchor="ctr"/>
          <a:lstStyle/>
          <a:p>
            <a:pPr indent="0" marL="0">
              <a:buNone/>
            </a:pPr>
            <a:r>
              <a:rPr lang="en-US" sz="3800" b="1" dirty="0">
                <a:solidFill>
                  <a:srgbClr val="1D1D1B"/>
                </a:solidFill>
              </a:rPr>
              <a:t>An answer is a start.</a:t>
            </a:r>
            <a:endParaRPr lang="en-US" sz="3800" dirty="0"/>
          </a:p>
          <a:p>
            <a:pPr indent="0" marL="0">
              <a:buNone/>
            </a:pPr>
            <a:r>
              <a:rPr lang="en-US" sz="3800" b="1" dirty="0">
                <a:solidFill>
                  <a:srgbClr val="1D1D1B"/>
                </a:solidFill>
              </a:rPr>
              <a:t>Show the engineering behind it.</a:t>
            </a:r>
            <a:endParaRPr lang="en-US" sz="3800" dirty="0"/>
          </a:p>
        </p:txBody>
      </p:sp>
      <p:sp>
        <p:nvSpPr>
          <p:cNvPr id="5" name="Shape 2"/>
          <p:cNvSpPr/>
          <p:nvPr/>
        </p:nvSpPr>
        <p:spPr>
          <a:xfrm>
            <a:off x="658368" y="3639312"/>
            <a:ext cx="10835640" cy="0"/>
          </a:xfrm>
          <a:prstGeom prst="line">
            <a:avLst/>
          </a:prstGeom>
          <a:noFill/>
          <a:ln w="25400">
            <a:solidFill>
              <a:srgbClr val="8B5E3C"/>
            </a:solidFill>
            <a:prstDash val="solid"/>
          </a:ln>
        </p:spPr>
      </p:sp>
      <p:sp>
        <p:nvSpPr>
          <p:cNvPr id="6" name="Text 3"/>
          <p:cNvSpPr/>
          <p:nvPr/>
        </p:nvSpPr>
        <p:spPr>
          <a:xfrm>
            <a:off x="667512" y="4114800"/>
            <a:ext cx="10012680" cy="1005840"/>
          </a:xfrm>
          <a:prstGeom prst="rect">
            <a:avLst/>
          </a:prstGeom>
          <a:noFill/>
          <a:ln/>
        </p:spPr>
        <p:txBody>
          <a:bodyPr wrap="square" lIns="0" tIns="0" rIns="0" bIns="0" rtlCol="0" anchor="t"/>
          <a:lstStyle/>
          <a:p>
            <a:pPr indent="0" marL="0">
              <a:buNone/>
            </a:pPr>
            <a:r>
              <a:rPr lang="en-US" sz="2300" dirty="0">
                <a:solidFill>
                  <a:srgbClr val="686761"/>
                </a:solidFill>
              </a:rPr>
              <a:t>Yeaft connects a browser workspace to your local Agent—</a:t>
            </a:r>
            <a:endParaRPr lang="en-US" sz="2300" dirty="0"/>
          </a:p>
          <a:p>
            <a:pPr indent="0" marL="0">
              <a:buNone/>
            </a:pPr>
            <a:r>
              <a:rPr lang="en-US" sz="2300" dirty="0">
                <a:solidFill>
                  <a:srgbClr val="686761"/>
                </a:solidFill>
              </a:rPr>
              <a:t>with visible conversations, specialists, files, and terminal output.</a:t>
            </a:r>
            <a:endParaRPr lang="en-US" sz="2300" dirty="0"/>
          </a:p>
        </p:txBody>
      </p:sp>
      <p:sp>
        <p:nvSpPr>
          <p:cNvPr id="7" name="Text 4"/>
          <p:cNvSpPr/>
          <p:nvPr/>
        </p:nvSpPr>
        <p:spPr>
          <a:xfrm>
            <a:off x="667512" y="5724144"/>
            <a:ext cx="9144000" cy="274320"/>
          </a:xfrm>
          <a:prstGeom prst="rect">
            <a:avLst/>
          </a:prstGeom>
          <a:noFill/>
          <a:ln/>
        </p:spPr>
        <p:txBody>
          <a:bodyPr wrap="square" lIns="0" tIns="0" rIns="0" bIns="0" rtlCol="0" anchor="ctr"/>
          <a:lstStyle/>
          <a:p>
            <a:pPr indent="0" marL="0">
              <a:buNone/>
            </a:pPr>
            <a:r>
              <a:rPr lang="en-US" sz="1400" dirty="0">
                <a:solidFill>
                  <a:srgbClr val="686761"/>
                </a:solidFill>
              </a:rPr>
              <a:t>A product walkthrough for engineers</a:t>
            </a:r>
            <a:endParaRPr lang="en-US" sz="14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THE PROBLEM</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A useful answer still leaves three questions.</a:t>
            </a:r>
            <a:endParaRPr lang="en-US" sz="3000" dirty="0"/>
          </a:p>
        </p:txBody>
      </p:sp>
      <p:sp>
        <p:nvSpPr>
          <p:cNvPr id="5" name="Text 2"/>
          <p:cNvSpPr/>
          <p:nvPr/>
        </p:nvSpPr>
        <p:spPr>
          <a:xfrm>
            <a:off x="667512" y="2788920"/>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01 / CONTEXT</a:t>
            </a:r>
            <a:endParaRPr lang="en-US" sz="1200" dirty="0"/>
          </a:p>
        </p:txBody>
      </p:sp>
      <p:sp>
        <p:nvSpPr>
          <p:cNvPr id="6" name="Text 3"/>
          <p:cNvSpPr/>
          <p:nvPr/>
        </p:nvSpPr>
        <p:spPr>
          <a:xfrm>
            <a:off x="667512" y="3227832"/>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What was requested?</a:t>
            </a:r>
            <a:endParaRPr lang="en-US" sz="2200" dirty="0"/>
          </a:p>
        </p:txBody>
      </p:sp>
      <p:sp>
        <p:nvSpPr>
          <p:cNvPr id="7" name="Text 4"/>
          <p:cNvSpPr/>
          <p:nvPr/>
        </p:nvSpPr>
        <p:spPr>
          <a:xfrm>
            <a:off x="667512" y="3840480"/>
            <a:ext cx="3246120" cy="1234440"/>
          </a:xfrm>
          <a:prstGeom prst="rect">
            <a:avLst/>
          </a:prstGeom>
          <a:noFill/>
          <a:ln/>
        </p:spPr>
        <p:txBody>
          <a:bodyPr wrap="square" lIns="0" tIns="0" rIns="0" bIns="0" rtlCol="0" anchor="t"/>
          <a:lstStyle/>
          <a:p>
            <a:pPr indent="0" marL="0">
              <a:buNone/>
            </a:pPr>
            <a:r>
              <a:rPr lang="en-US" sz="1700" dirty="0">
                <a:solidFill>
                  <a:srgbClr val="686761"/>
                </a:solidFill>
              </a:rPr>
              <a:t>The goal and constraints need to remain close to the response.</a:t>
            </a:r>
            <a:endParaRPr lang="en-US" sz="1700" dirty="0"/>
          </a:p>
        </p:txBody>
      </p:sp>
      <p:sp>
        <p:nvSpPr>
          <p:cNvPr id="8" name="Text 5"/>
          <p:cNvSpPr/>
          <p:nvPr/>
        </p:nvSpPr>
        <p:spPr>
          <a:xfrm>
            <a:off x="4453128" y="2788920"/>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02 / RESPONSIBILITY</a:t>
            </a:r>
            <a:endParaRPr lang="en-US" sz="1200" dirty="0"/>
          </a:p>
        </p:txBody>
      </p:sp>
      <p:sp>
        <p:nvSpPr>
          <p:cNvPr id="9" name="Text 6"/>
          <p:cNvSpPr/>
          <p:nvPr/>
        </p:nvSpPr>
        <p:spPr>
          <a:xfrm>
            <a:off x="4453128" y="3227832"/>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Who did what?</a:t>
            </a:r>
            <a:endParaRPr lang="en-US" sz="2200" dirty="0"/>
          </a:p>
        </p:txBody>
      </p:sp>
      <p:sp>
        <p:nvSpPr>
          <p:cNvPr id="10" name="Text 7"/>
          <p:cNvSpPr/>
          <p:nvPr/>
        </p:nvSpPr>
        <p:spPr>
          <a:xfrm>
            <a:off x="4453128" y="3840480"/>
            <a:ext cx="3246120" cy="1234440"/>
          </a:xfrm>
          <a:prstGeom prst="rect">
            <a:avLst/>
          </a:prstGeom>
          <a:noFill/>
          <a:ln/>
        </p:spPr>
        <p:txBody>
          <a:bodyPr wrap="square" lIns="0" tIns="0" rIns="0" bIns="0" rtlCol="0" anchor="t"/>
          <a:lstStyle/>
          <a:p>
            <a:pPr indent="0" marL="0">
              <a:buNone/>
            </a:pPr>
            <a:r>
              <a:rPr lang="en-US" sz="1700" dirty="0">
                <a:solidFill>
                  <a:srgbClr val="686761"/>
                </a:solidFill>
              </a:rPr>
              <a:t>Implementation and independent judgment are different contributions.</a:t>
            </a:r>
            <a:endParaRPr lang="en-US" sz="1700" dirty="0"/>
          </a:p>
        </p:txBody>
      </p:sp>
      <p:sp>
        <p:nvSpPr>
          <p:cNvPr id="11" name="Text 8"/>
          <p:cNvSpPr/>
          <p:nvPr/>
        </p:nvSpPr>
        <p:spPr>
          <a:xfrm>
            <a:off x="8247888" y="2788920"/>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03 / EVIDENCE</a:t>
            </a:r>
            <a:endParaRPr lang="en-US" sz="1200" dirty="0"/>
          </a:p>
        </p:txBody>
      </p:sp>
      <p:sp>
        <p:nvSpPr>
          <p:cNvPr id="12" name="Text 9"/>
          <p:cNvSpPr/>
          <p:nvPr/>
        </p:nvSpPr>
        <p:spPr>
          <a:xfrm>
            <a:off x="8247888" y="3227832"/>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What can I check?</a:t>
            </a:r>
            <a:endParaRPr lang="en-US" sz="2200" dirty="0"/>
          </a:p>
        </p:txBody>
      </p:sp>
      <p:sp>
        <p:nvSpPr>
          <p:cNvPr id="13" name="Text 10"/>
          <p:cNvSpPr/>
          <p:nvPr/>
        </p:nvSpPr>
        <p:spPr>
          <a:xfrm>
            <a:off x="8247888" y="3840480"/>
            <a:ext cx="3246120" cy="1234440"/>
          </a:xfrm>
          <a:prstGeom prst="rect">
            <a:avLst/>
          </a:prstGeom>
          <a:noFill/>
          <a:ln/>
        </p:spPr>
        <p:txBody>
          <a:bodyPr wrap="square" lIns="0" tIns="0" rIns="0" bIns="0" rtlCol="0" anchor="t"/>
          <a:lstStyle/>
          <a:p>
            <a:pPr indent="0" marL="0">
              <a:buNone/>
            </a:pPr>
            <a:r>
              <a:rPr lang="en-US" sz="1700" dirty="0">
                <a:solidFill>
                  <a:srgbClr val="686761"/>
                </a:solidFill>
              </a:rPr>
              <a:t>A file, a command, and a scoped result are stronger than “done”.</a:t>
            </a:r>
            <a:endParaRPr lang="en-US" sz="1700" dirty="0"/>
          </a:p>
        </p:txBody>
      </p:sp>
      <p:sp>
        <p:nvSpPr>
          <p:cNvPr id="14" name="Text 11"/>
          <p:cNvSpPr/>
          <p:nvPr/>
        </p:nvSpPr>
        <p:spPr>
          <a:xfrm>
            <a:off x="667512" y="5870448"/>
            <a:ext cx="10789920" cy="320040"/>
          </a:xfrm>
          <a:prstGeom prst="rect">
            <a:avLst/>
          </a:prstGeom>
          <a:noFill/>
          <a:ln/>
        </p:spPr>
        <p:txBody>
          <a:bodyPr wrap="square" lIns="0" tIns="0" rIns="0" bIns="0" rtlCol="0" anchor="ctr"/>
          <a:lstStyle/>
          <a:p>
            <a:pPr indent="0" marL="0">
              <a:buNone/>
            </a:pPr>
            <a:r>
              <a:rPr lang="en-US" sz="1600" dirty="0">
                <a:solidFill>
                  <a:srgbClr val="8B5E3C"/>
                </a:solidFill>
              </a:rPr>
              <a:t>This walkthrough follows one small inspection—not a claimed production fix.</a:t>
            </a:r>
            <a:endParaRPr lang="en-US" sz="16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PRODUCT MAP</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The browser is the workspace. The Agent does the work.</a:t>
            </a:r>
            <a:endParaRPr lang="en-US" sz="3000" dirty="0"/>
          </a:p>
        </p:txBody>
      </p:sp>
      <p:sp>
        <p:nvSpPr>
          <p:cNvPr id="5" name="Text 2"/>
          <p:cNvSpPr/>
          <p:nvPr/>
        </p:nvSpPr>
        <p:spPr>
          <a:xfrm>
            <a:off x="640080" y="1901952"/>
            <a:ext cx="10652760" cy="512064"/>
          </a:xfrm>
          <a:prstGeom prst="rect">
            <a:avLst/>
          </a:prstGeom>
          <a:noFill/>
          <a:ln/>
        </p:spPr>
        <p:txBody>
          <a:bodyPr wrap="square" lIns="0" tIns="0" rIns="0" bIns="0" rtlCol="0" anchor="t"/>
          <a:lstStyle/>
          <a:p>
            <a:pPr indent="0" marL="0">
              <a:buNone/>
            </a:pPr>
            <a:r>
              <a:rPr lang="en-US" sz="1500" dirty="0">
                <a:solidFill>
                  <a:srgbClr val="686761"/>
                </a:solidFill>
              </a:rPr>
              <a:t>Two execution responsibilities live on the Agent. They are not two names for the same conversation.</a:t>
            </a:r>
            <a:endParaRPr lang="en-US" sz="1500" dirty="0"/>
          </a:p>
        </p:txBody>
      </p:sp>
      <p:sp>
        <p:nvSpPr>
          <p:cNvPr id="6" name="Shape 3"/>
          <p:cNvSpPr/>
          <p:nvPr/>
        </p:nvSpPr>
        <p:spPr>
          <a:xfrm>
            <a:off x="667512" y="2999232"/>
            <a:ext cx="2286000" cy="1417320"/>
          </a:xfrm>
          <a:prstGeom prst="rect">
            <a:avLst/>
          </a:prstGeom>
          <a:solidFill>
            <a:srgbClr val="FFFFFF"/>
          </a:solidFill>
          <a:ln w="7620">
            <a:solidFill>
              <a:srgbClr val="D7D2C8"/>
            </a:solidFill>
            <a:prstDash val="solid"/>
          </a:ln>
        </p:spPr>
      </p:sp>
      <p:sp>
        <p:nvSpPr>
          <p:cNvPr id="7" name="Text 4"/>
          <p:cNvSpPr/>
          <p:nvPr/>
        </p:nvSpPr>
        <p:spPr>
          <a:xfrm>
            <a:off x="896112" y="3218688"/>
            <a:ext cx="1828800" cy="320040"/>
          </a:xfrm>
          <a:prstGeom prst="rect">
            <a:avLst/>
          </a:prstGeom>
          <a:noFill/>
          <a:ln/>
        </p:spPr>
        <p:txBody>
          <a:bodyPr wrap="square" lIns="0" tIns="0" rIns="0" bIns="0" rtlCol="0" anchor="ctr"/>
          <a:lstStyle/>
          <a:p>
            <a:pPr indent="0" marL="0">
              <a:buNone/>
            </a:pPr>
            <a:r>
              <a:rPr lang="en-US" sz="1900" b="1" dirty="0">
                <a:solidFill>
                  <a:srgbClr val="1D1D1B"/>
                </a:solidFill>
              </a:rPr>
              <a:t>BROWSER</a:t>
            </a:r>
            <a:endParaRPr lang="en-US" sz="1900" dirty="0"/>
          </a:p>
        </p:txBody>
      </p:sp>
      <p:sp>
        <p:nvSpPr>
          <p:cNvPr id="8" name="Text 5"/>
          <p:cNvSpPr/>
          <p:nvPr/>
        </p:nvSpPr>
        <p:spPr>
          <a:xfrm>
            <a:off x="896112" y="3749040"/>
            <a:ext cx="1828800" cy="502920"/>
          </a:xfrm>
          <a:prstGeom prst="rect">
            <a:avLst/>
          </a:prstGeom>
          <a:noFill/>
          <a:ln/>
        </p:spPr>
        <p:txBody>
          <a:bodyPr wrap="square" lIns="0" tIns="0" rIns="0" bIns="0" rtlCol="0" anchor="t"/>
          <a:lstStyle/>
          <a:p>
            <a:pPr indent="0" marL="0">
              <a:buNone/>
            </a:pPr>
            <a:r>
              <a:rPr lang="en-US" sz="1500" dirty="0">
                <a:solidFill>
                  <a:srgbClr val="686761"/>
                </a:solidFill>
              </a:rPr>
              <a:t>Conversation + workbench</a:t>
            </a:r>
            <a:endParaRPr lang="en-US" sz="1500" dirty="0"/>
          </a:p>
        </p:txBody>
      </p:sp>
      <p:sp>
        <p:nvSpPr>
          <p:cNvPr id="9" name="Shape 6"/>
          <p:cNvSpPr/>
          <p:nvPr/>
        </p:nvSpPr>
        <p:spPr>
          <a:xfrm>
            <a:off x="3017520" y="3685032"/>
            <a:ext cx="685800" cy="0"/>
          </a:xfrm>
          <a:prstGeom prst="line">
            <a:avLst/>
          </a:prstGeom>
          <a:noFill/>
          <a:ln w="19050">
            <a:solidFill>
              <a:srgbClr val="8B5E3C"/>
            </a:solidFill>
            <a:prstDash val="solid"/>
            <a:tailEnd type="triangle"/>
          </a:ln>
        </p:spPr>
      </p:sp>
      <p:sp>
        <p:nvSpPr>
          <p:cNvPr id="10" name="Shape 7"/>
          <p:cNvSpPr/>
          <p:nvPr/>
        </p:nvSpPr>
        <p:spPr>
          <a:xfrm>
            <a:off x="3785616" y="2999232"/>
            <a:ext cx="2258568" cy="1417320"/>
          </a:xfrm>
          <a:prstGeom prst="rect">
            <a:avLst/>
          </a:prstGeom>
          <a:solidFill>
            <a:srgbClr val="FFFFFF"/>
          </a:solidFill>
          <a:ln w="7620">
            <a:solidFill>
              <a:srgbClr val="D7D2C8"/>
            </a:solidFill>
            <a:prstDash val="solid"/>
          </a:ln>
        </p:spPr>
      </p:sp>
      <p:sp>
        <p:nvSpPr>
          <p:cNvPr id="11" name="Text 8"/>
          <p:cNvSpPr/>
          <p:nvPr/>
        </p:nvSpPr>
        <p:spPr>
          <a:xfrm>
            <a:off x="4005072" y="3218688"/>
            <a:ext cx="1828800" cy="320040"/>
          </a:xfrm>
          <a:prstGeom prst="rect">
            <a:avLst/>
          </a:prstGeom>
          <a:noFill/>
          <a:ln/>
        </p:spPr>
        <p:txBody>
          <a:bodyPr wrap="square" lIns="0" tIns="0" rIns="0" bIns="0" rtlCol="0" anchor="ctr"/>
          <a:lstStyle/>
          <a:p>
            <a:pPr indent="0" marL="0">
              <a:buNone/>
            </a:pPr>
            <a:r>
              <a:rPr lang="en-US" sz="1900" b="1" dirty="0">
                <a:solidFill>
                  <a:srgbClr val="1D1D1B"/>
                </a:solidFill>
              </a:rPr>
              <a:t>SERVER</a:t>
            </a:r>
            <a:endParaRPr lang="en-US" sz="1900" dirty="0"/>
          </a:p>
        </p:txBody>
      </p:sp>
      <p:sp>
        <p:nvSpPr>
          <p:cNvPr id="12" name="Text 9"/>
          <p:cNvSpPr/>
          <p:nvPr/>
        </p:nvSpPr>
        <p:spPr>
          <a:xfrm>
            <a:off x="4005072" y="3749040"/>
            <a:ext cx="1828800" cy="502920"/>
          </a:xfrm>
          <a:prstGeom prst="rect">
            <a:avLst/>
          </a:prstGeom>
          <a:noFill/>
          <a:ln/>
        </p:spPr>
        <p:txBody>
          <a:bodyPr wrap="square" lIns="0" tIns="0" rIns="0" bIns="0" rtlCol="0" anchor="t"/>
          <a:lstStyle/>
          <a:p>
            <a:pPr indent="0" marL="0">
              <a:buNone/>
            </a:pPr>
            <a:r>
              <a:rPr lang="en-US" sz="1500" dirty="0">
                <a:solidFill>
                  <a:srgbClr val="686761"/>
                </a:solidFill>
              </a:rPr>
              <a:t>Authentication + relay</a:t>
            </a:r>
            <a:endParaRPr lang="en-US" sz="1500" dirty="0"/>
          </a:p>
        </p:txBody>
      </p:sp>
      <p:sp>
        <p:nvSpPr>
          <p:cNvPr id="13" name="Shape 10"/>
          <p:cNvSpPr/>
          <p:nvPr/>
        </p:nvSpPr>
        <p:spPr>
          <a:xfrm>
            <a:off x="6126480" y="3685032"/>
            <a:ext cx="685800" cy="0"/>
          </a:xfrm>
          <a:prstGeom prst="line">
            <a:avLst/>
          </a:prstGeom>
          <a:noFill/>
          <a:ln w="19050">
            <a:solidFill>
              <a:srgbClr val="8B5E3C"/>
            </a:solidFill>
            <a:prstDash val="solid"/>
            <a:tailEnd type="triangle"/>
          </a:ln>
        </p:spPr>
      </p:sp>
      <p:sp>
        <p:nvSpPr>
          <p:cNvPr id="14" name="Shape 11"/>
          <p:cNvSpPr/>
          <p:nvPr/>
        </p:nvSpPr>
        <p:spPr>
          <a:xfrm>
            <a:off x="6885432" y="2697480"/>
            <a:ext cx="4617720" cy="3163824"/>
          </a:xfrm>
          <a:prstGeom prst="rect">
            <a:avLst/>
          </a:prstGeom>
          <a:solidFill>
            <a:srgbClr val="E9E2D8"/>
          </a:solidFill>
          <a:ln w="7620">
            <a:solidFill>
              <a:srgbClr val="D7D2C8"/>
            </a:solidFill>
            <a:prstDash val="solid"/>
          </a:ln>
        </p:spPr>
      </p:sp>
      <p:sp>
        <p:nvSpPr>
          <p:cNvPr id="15" name="Text 12"/>
          <p:cNvSpPr/>
          <p:nvPr/>
        </p:nvSpPr>
        <p:spPr>
          <a:xfrm>
            <a:off x="7150608" y="2907792"/>
            <a:ext cx="4023360" cy="320040"/>
          </a:xfrm>
          <a:prstGeom prst="rect">
            <a:avLst/>
          </a:prstGeom>
          <a:noFill/>
          <a:ln/>
        </p:spPr>
        <p:txBody>
          <a:bodyPr wrap="square" lIns="0" tIns="0" rIns="0" bIns="0" rtlCol="0" anchor="ctr"/>
          <a:lstStyle/>
          <a:p>
            <a:pPr indent="0" marL="0">
              <a:buNone/>
            </a:pPr>
            <a:r>
              <a:rPr lang="en-US" sz="1900" b="1" dirty="0">
                <a:solidFill>
                  <a:srgbClr val="1D1D1B"/>
                </a:solidFill>
              </a:rPr>
              <a:t>LOCAL AGENT</a:t>
            </a:r>
            <a:endParaRPr lang="en-US" sz="1900" dirty="0"/>
          </a:p>
        </p:txBody>
      </p:sp>
      <p:sp>
        <p:nvSpPr>
          <p:cNvPr id="16" name="Text 13"/>
          <p:cNvSpPr/>
          <p:nvPr/>
        </p:nvSpPr>
        <p:spPr>
          <a:xfrm>
            <a:off x="7159752" y="3538728"/>
            <a:ext cx="3977640" cy="320040"/>
          </a:xfrm>
          <a:prstGeom prst="rect">
            <a:avLst/>
          </a:prstGeom>
          <a:noFill/>
          <a:ln/>
        </p:spPr>
        <p:txBody>
          <a:bodyPr wrap="square" lIns="0" tIns="0" rIns="0" bIns="0" rtlCol="0" anchor="ctr"/>
          <a:lstStyle/>
          <a:p>
            <a:pPr indent="0" marL="0">
              <a:buNone/>
            </a:pPr>
            <a:r>
              <a:rPr lang="en-US" sz="2000" b="1" dirty="0">
                <a:solidFill>
                  <a:srgbClr val="1D1D1B"/>
                </a:solidFill>
              </a:rPr>
              <a:t>Session</a:t>
            </a:r>
            <a:endParaRPr lang="en-US" sz="2000" dirty="0"/>
          </a:p>
        </p:txBody>
      </p:sp>
      <p:sp>
        <p:nvSpPr>
          <p:cNvPr id="17" name="Text 14"/>
          <p:cNvSpPr/>
          <p:nvPr/>
        </p:nvSpPr>
        <p:spPr>
          <a:xfrm>
            <a:off x="7159752" y="3931920"/>
            <a:ext cx="3977640" cy="365760"/>
          </a:xfrm>
          <a:prstGeom prst="rect">
            <a:avLst/>
          </a:prstGeom>
          <a:noFill/>
          <a:ln/>
        </p:spPr>
        <p:txBody>
          <a:bodyPr wrap="square" lIns="0" tIns="0" rIns="0" bIns="0" rtlCol="0" anchor="t"/>
          <a:lstStyle/>
          <a:p>
            <a:pPr indent="0" marL="0">
              <a:buNone/>
            </a:pPr>
            <a:r>
              <a:rPr lang="en-US" sz="1500" dirty="0">
                <a:solidFill>
                  <a:srgbClr val="686761"/>
                </a:solidFill>
              </a:rPr>
              <a:t>Conversation with 1..N Virtual Persons</a:t>
            </a:r>
            <a:endParaRPr lang="en-US" sz="1500" dirty="0"/>
          </a:p>
        </p:txBody>
      </p:sp>
      <p:sp>
        <p:nvSpPr>
          <p:cNvPr id="18" name="Text 15"/>
          <p:cNvSpPr/>
          <p:nvPr/>
        </p:nvSpPr>
        <p:spPr>
          <a:xfrm>
            <a:off x="7159752" y="4590288"/>
            <a:ext cx="3977640" cy="320040"/>
          </a:xfrm>
          <a:prstGeom prst="rect">
            <a:avLst/>
          </a:prstGeom>
          <a:noFill/>
          <a:ln/>
        </p:spPr>
        <p:txBody>
          <a:bodyPr wrap="square" lIns="0" tIns="0" rIns="0" bIns="0" rtlCol="0" anchor="ctr"/>
          <a:lstStyle/>
          <a:p>
            <a:pPr indent="0" marL="0">
              <a:buNone/>
            </a:pPr>
            <a:r>
              <a:rPr lang="en-US" sz="2000" b="1" dirty="0">
                <a:solidFill>
                  <a:srgbClr val="1D1D1B"/>
                </a:solidFill>
              </a:rPr>
              <a:t>Work Center · Preview</a:t>
            </a:r>
            <a:endParaRPr lang="en-US" sz="2000" dirty="0"/>
          </a:p>
        </p:txBody>
      </p:sp>
      <p:sp>
        <p:nvSpPr>
          <p:cNvPr id="19" name="Text 16"/>
          <p:cNvSpPr/>
          <p:nvPr/>
        </p:nvSpPr>
        <p:spPr>
          <a:xfrm>
            <a:off x="7159752" y="4992624"/>
            <a:ext cx="3977640" cy="365760"/>
          </a:xfrm>
          <a:prstGeom prst="rect">
            <a:avLst/>
          </a:prstGeom>
          <a:noFill/>
          <a:ln/>
        </p:spPr>
        <p:txBody>
          <a:bodyPr wrap="square" lIns="0" tIns="0" rIns="0" bIns="0" rtlCol="0" anchor="t"/>
          <a:lstStyle/>
          <a:p>
            <a:pPr indent="0" marL="0">
              <a:buNone/>
            </a:pPr>
            <a:r>
              <a:rPr lang="en-US" sz="1500" dirty="0">
                <a:solidFill>
                  <a:srgbClr val="686761"/>
                </a:solidFill>
              </a:rPr>
              <a:t>Durable goals, Actions, and Runs</a:t>
            </a:r>
            <a:endParaRPr lang="en-US" sz="1500" dirty="0"/>
          </a:p>
        </p:txBody>
      </p:sp>
      <p:sp>
        <p:nvSpPr>
          <p:cNvPr id="20" name="Text 17"/>
          <p:cNvSpPr/>
          <p:nvPr/>
        </p:nvSpPr>
        <p:spPr>
          <a:xfrm>
            <a:off x="685800" y="5120640"/>
            <a:ext cx="5852160" cy="640080"/>
          </a:xfrm>
          <a:prstGeom prst="rect">
            <a:avLst/>
          </a:prstGeom>
          <a:noFill/>
          <a:ln/>
        </p:spPr>
        <p:txBody>
          <a:bodyPr wrap="square" lIns="0" tIns="0" rIns="0" bIns="0" rtlCol="0" anchor="t"/>
          <a:lstStyle/>
          <a:p>
            <a:pPr indent="0" marL="0">
              <a:buNone/>
            </a:pPr>
            <a:r>
              <a:rPr lang="en-US" sz="1600" dirty="0">
                <a:solidFill>
                  <a:srgbClr val="686761"/>
                </a:solidFill>
              </a:rPr>
              <a:t>Files, shell, and provider access stay Agent-side.</a:t>
            </a:r>
            <a:endParaRPr lang="en-US" sz="16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01 / KEEP THE REQUEST VISIBLE</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Start with a question you can actually verify.</a:t>
            </a:r>
            <a:endParaRPr lang="en-US" sz="3000" dirty="0"/>
          </a:p>
        </p:txBody>
      </p:sp>
      <p:pic>
        <p:nvPicPr>
          <p:cNvPr id="5" name="Image 0" descr="/home/azureuser/projects/yeaft-web-code-agent/.yeaft/worktrees/showcase-story-visual-refresh/artifacts/showcase/assets/04-session-conversation.png">    </p:cNvPr>
          <p:cNvPicPr>
            <a:picLocks noChangeAspect="1"/>
          </p:cNvPicPr>
          <p:nvPr/>
        </p:nvPicPr>
        <p:blipFill>
          <a:blip r:embed="rId1"/>
          <a:stretch>
            <a:fillRect/>
          </a:stretch>
        </p:blipFill>
        <p:spPr>
          <a:xfrm>
            <a:off x="1790852" y="2148840"/>
            <a:ext cx="5150815" cy="3931920"/>
          </a:xfrm>
          <a:prstGeom prst="rect">
            <a:avLst/>
          </a:prstGeom>
        </p:spPr>
      </p:pic>
      <p:sp>
        <p:nvSpPr>
          <p:cNvPr id="6" name="Text 2"/>
          <p:cNvSpPr/>
          <p:nvPr/>
        </p:nvSpPr>
        <p:spPr>
          <a:xfrm>
            <a:off x="8385048" y="2560320"/>
            <a:ext cx="2971800" cy="228600"/>
          </a:xfrm>
          <a:prstGeom prst="rect">
            <a:avLst/>
          </a:prstGeom>
          <a:noFill/>
          <a:ln/>
        </p:spPr>
        <p:txBody>
          <a:bodyPr wrap="square" lIns="0" tIns="0" rIns="0" bIns="0" rtlCol="0" anchor="ctr"/>
          <a:lstStyle/>
          <a:p>
            <a:pPr indent="0" marL="0">
              <a:buNone/>
            </a:pPr>
            <a:r>
              <a:rPr lang="en-US" sz="1200" b="1" dirty="0">
                <a:solidFill>
                  <a:srgbClr val="8B5E3C"/>
                </a:solidFill>
              </a:rPr>
              <a:t>REQUEST</a:t>
            </a:r>
            <a:endParaRPr lang="en-US" sz="1200" dirty="0"/>
          </a:p>
        </p:txBody>
      </p:sp>
      <p:sp>
        <p:nvSpPr>
          <p:cNvPr id="7" name="Text 3"/>
          <p:cNvSpPr/>
          <p:nvPr/>
        </p:nvSpPr>
        <p:spPr>
          <a:xfrm>
            <a:off x="8385048" y="2953512"/>
            <a:ext cx="2971800" cy="685800"/>
          </a:xfrm>
          <a:prstGeom prst="rect">
            <a:avLst/>
          </a:prstGeom>
          <a:noFill/>
          <a:ln/>
        </p:spPr>
        <p:txBody>
          <a:bodyPr wrap="square" lIns="0" tIns="0" rIns="0" bIns="0" rtlCol="0" anchor="ctr"/>
          <a:lstStyle/>
          <a:p>
            <a:pPr indent="0" marL="0">
              <a:buNone/>
            </a:pPr>
            <a:r>
              <a:rPr lang="en-US" sz="2300" b="1" dirty="0">
                <a:solidFill>
                  <a:srgbClr val="1D1D1B"/>
                </a:solidFill>
              </a:rPr>
              <a:t>Inspect Session startup.</a:t>
            </a:r>
            <a:endParaRPr lang="en-US" sz="2300" dirty="0"/>
          </a:p>
        </p:txBody>
      </p:sp>
      <p:sp>
        <p:nvSpPr>
          <p:cNvPr id="8" name="Text 4"/>
          <p:cNvSpPr/>
          <p:nvPr/>
        </p:nvSpPr>
        <p:spPr>
          <a:xfrm>
            <a:off x="8385048" y="3977640"/>
            <a:ext cx="2971800" cy="228600"/>
          </a:xfrm>
          <a:prstGeom prst="rect">
            <a:avLst/>
          </a:prstGeom>
          <a:noFill/>
          <a:ln/>
        </p:spPr>
        <p:txBody>
          <a:bodyPr wrap="square" lIns="0" tIns="0" rIns="0" bIns="0" rtlCol="0" anchor="ctr"/>
          <a:lstStyle/>
          <a:p>
            <a:pPr indent="0" marL="0">
              <a:buNone/>
            </a:pPr>
            <a:r>
              <a:rPr lang="en-US" sz="1200" b="1" dirty="0">
                <a:solidFill>
                  <a:srgbClr val="8B5E3C"/>
                </a:solidFill>
              </a:rPr>
              <a:t>RESPONSE</a:t>
            </a:r>
            <a:endParaRPr lang="en-US" sz="1200" dirty="0"/>
          </a:p>
        </p:txBody>
      </p:sp>
      <p:sp>
        <p:nvSpPr>
          <p:cNvPr id="9" name="Text 5"/>
          <p:cNvSpPr/>
          <p:nvPr/>
        </p:nvSpPr>
        <p:spPr>
          <a:xfrm>
            <a:off x="8385048" y="4389120"/>
            <a:ext cx="2971800" cy="1325880"/>
          </a:xfrm>
          <a:prstGeom prst="rect">
            <a:avLst/>
          </a:prstGeom>
          <a:noFill/>
          <a:ln/>
        </p:spPr>
        <p:txBody>
          <a:bodyPr wrap="square" lIns="0" tIns="0" rIns="0" bIns="0" rtlCol="0" anchor="t"/>
          <a:lstStyle/>
          <a:p>
            <a:pPr indent="0" marL="0">
              <a:buNone/>
            </a:pPr>
            <a:r>
              <a:rPr lang="en-US" sz="1800" dirty="0">
                <a:solidFill>
                  <a:srgbClr val="686761"/>
                </a:solidFill>
              </a:rPr>
              <a:t>A named reply links the file and check back to that request.</a:t>
            </a:r>
            <a:endParaRPr lang="en-US" sz="1800" dirty="0"/>
          </a:p>
        </p:txBody>
      </p:sp>
      <p:sp>
        <p:nvSpPr>
          <p:cNvPr id="10" name="Text 6"/>
          <p:cNvSpPr/>
          <p:nvPr/>
        </p:nvSpPr>
        <p:spPr>
          <a:xfrm>
            <a:off x="621792" y="6428232"/>
            <a:ext cx="10058400" cy="256032"/>
          </a:xfrm>
          <a:prstGeom prst="rect">
            <a:avLst/>
          </a:prstGeom>
          <a:noFill/>
          <a:ln/>
        </p:spPr>
        <p:txBody>
          <a:bodyPr wrap="square" lIns="0" tIns="0" rIns="0" bIns="0" rtlCol="0" anchor="ctr"/>
          <a:lstStyle/>
          <a:p>
            <a:pPr indent="0" marL="0">
              <a:buNone/>
            </a:pPr>
            <a:r>
              <a:rPr lang="en-US" sz="1000" dirty="0">
                <a:solidFill>
                  <a:srgbClr val="686761"/>
                </a:solidFill>
              </a:rPr>
              <a:t>Real Yeaft UI · Staged inspection demo</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02 / MAKE CONTRIBUTIONS ATTRIBUTABLE</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See the team—and what each person contributed.</a:t>
            </a:r>
            <a:endParaRPr lang="en-US" sz="3000" dirty="0"/>
          </a:p>
        </p:txBody>
      </p:sp>
      <p:pic>
        <p:nvPicPr>
          <p:cNvPr id="5" name="Image 0" descr="/home/azureuser/projects/yeaft-web-code-agent/.yeaft/worktrees/showcase-story-visual-refresh/artifacts/showcase/assets/05-session-roster.png">    </p:cNvPr>
          <p:cNvPicPr>
            <a:picLocks noChangeAspect="1"/>
          </p:cNvPicPr>
          <p:nvPr/>
        </p:nvPicPr>
        <p:blipFill>
          <a:blip r:embed="rId1"/>
          <a:stretch>
            <a:fillRect/>
          </a:stretch>
        </p:blipFill>
        <p:spPr>
          <a:xfrm>
            <a:off x="1719775" y="2167128"/>
            <a:ext cx="5292969" cy="3931920"/>
          </a:xfrm>
          <a:prstGeom prst="rect">
            <a:avLst/>
          </a:prstGeom>
        </p:spPr>
      </p:pic>
      <p:sp>
        <p:nvSpPr>
          <p:cNvPr id="6" name="Text 2"/>
          <p:cNvSpPr/>
          <p:nvPr/>
        </p:nvSpPr>
        <p:spPr>
          <a:xfrm>
            <a:off x="8385048" y="2670048"/>
            <a:ext cx="2971800" cy="246888"/>
          </a:xfrm>
          <a:prstGeom prst="rect">
            <a:avLst/>
          </a:prstGeom>
          <a:noFill/>
          <a:ln/>
        </p:spPr>
        <p:txBody>
          <a:bodyPr wrap="square" lIns="0" tIns="0" rIns="0" bIns="0" rtlCol="0" anchor="ctr"/>
          <a:lstStyle/>
          <a:p>
            <a:pPr indent="0" marL="0">
              <a:buNone/>
            </a:pPr>
            <a:r>
              <a:rPr lang="en-US" sz="1200" b="1" dirty="0">
                <a:solidFill>
                  <a:srgbClr val="8B5E3C"/>
                </a:solidFill>
              </a:rPr>
              <a:t>LINUS</a:t>
            </a:r>
            <a:endParaRPr lang="en-US" sz="1200" dirty="0"/>
          </a:p>
        </p:txBody>
      </p:sp>
      <p:sp>
        <p:nvSpPr>
          <p:cNvPr id="7" name="Text 3"/>
          <p:cNvSpPr/>
          <p:nvPr/>
        </p:nvSpPr>
        <p:spPr>
          <a:xfrm>
            <a:off x="8385048" y="3090672"/>
            <a:ext cx="2971800" cy="960120"/>
          </a:xfrm>
          <a:prstGeom prst="rect">
            <a:avLst/>
          </a:prstGeom>
          <a:noFill/>
          <a:ln/>
        </p:spPr>
        <p:txBody>
          <a:bodyPr wrap="square" lIns="0" tIns="0" rIns="0" bIns="0" rtlCol="0" anchor="t"/>
          <a:lstStyle/>
          <a:p>
            <a:pPr indent="0" marL="0">
              <a:buNone/>
            </a:pPr>
            <a:r>
              <a:rPr lang="en-US" sz="2000" dirty="0">
                <a:solidFill>
                  <a:srgbClr val="686761"/>
                </a:solidFill>
              </a:rPr>
              <a:t>Reports the inspected file and syntax result.</a:t>
            </a:r>
            <a:endParaRPr lang="en-US" sz="2000" dirty="0"/>
          </a:p>
        </p:txBody>
      </p:sp>
      <p:sp>
        <p:nvSpPr>
          <p:cNvPr id="8" name="Text 4"/>
          <p:cNvSpPr/>
          <p:nvPr/>
        </p:nvSpPr>
        <p:spPr>
          <a:xfrm>
            <a:off x="8385048" y="4279392"/>
            <a:ext cx="2971800" cy="246888"/>
          </a:xfrm>
          <a:prstGeom prst="rect">
            <a:avLst/>
          </a:prstGeom>
          <a:noFill/>
          <a:ln/>
        </p:spPr>
        <p:txBody>
          <a:bodyPr wrap="square" lIns="0" tIns="0" rIns="0" bIns="0" rtlCol="0" anchor="ctr"/>
          <a:lstStyle/>
          <a:p>
            <a:pPr indent="0" marL="0">
              <a:buNone/>
            </a:pPr>
            <a:r>
              <a:rPr lang="en-US" sz="1200" b="1" dirty="0">
                <a:solidFill>
                  <a:srgbClr val="8B5E3C"/>
                </a:solidFill>
              </a:rPr>
              <a:t>MARTIN</a:t>
            </a:r>
            <a:endParaRPr lang="en-US" sz="1200" dirty="0"/>
          </a:p>
        </p:txBody>
      </p:sp>
      <p:sp>
        <p:nvSpPr>
          <p:cNvPr id="9" name="Text 5"/>
          <p:cNvSpPr/>
          <p:nvPr/>
        </p:nvSpPr>
        <p:spPr>
          <a:xfrm>
            <a:off x="8385048" y="4700016"/>
            <a:ext cx="2971800" cy="960120"/>
          </a:xfrm>
          <a:prstGeom prst="rect">
            <a:avLst/>
          </a:prstGeom>
          <a:noFill/>
          <a:ln/>
        </p:spPr>
        <p:txBody>
          <a:bodyPr wrap="square" lIns="0" tIns="0" rIns="0" bIns="0" rtlCol="0" anchor="t"/>
          <a:lstStyle/>
          <a:p>
            <a:pPr indent="0" marL="0">
              <a:buNone/>
            </a:pPr>
            <a:r>
              <a:rPr lang="en-US" sz="2000" dirty="0">
                <a:solidFill>
                  <a:srgbClr val="686761"/>
                </a:solidFill>
              </a:rPr>
              <a:t>Challenges the scope: syntax is not behavior.</a:t>
            </a:r>
            <a:endParaRPr lang="en-US" sz="2000" dirty="0"/>
          </a:p>
        </p:txBody>
      </p:sp>
      <p:sp>
        <p:nvSpPr>
          <p:cNvPr id="10" name="Text 6"/>
          <p:cNvSpPr/>
          <p:nvPr/>
        </p:nvSpPr>
        <p:spPr>
          <a:xfrm>
            <a:off x="621792" y="6428232"/>
            <a:ext cx="10058400" cy="256032"/>
          </a:xfrm>
          <a:prstGeom prst="rect">
            <a:avLst/>
          </a:prstGeom>
          <a:noFill/>
          <a:ln/>
        </p:spPr>
        <p:txBody>
          <a:bodyPr wrap="square" lIns="0" tIns="0" rIns="0" bIns="0" rtlCol="0" anchor="ctr"/>
          <a:lstStyle/>
          <a:p>
            <a:pPr indent="0" marL="0">
              <a:buNone/>
            </a:pPr>
            <a:r>
              <a:rPr lang="en-US" sz="1000" dirty="0">
                <a:solidFill>
                  <a:srgbClr val="686761"/>
                </a:solidFill>
              </a:rPr>
              <a:t>Real Yeaft UI · Staged inspection demo</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03 / SEPARATE RESPONSIBILITIES</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Give each specialist a different job.</a:t>
            </a:r>
            <a:endParaRPr lang="en-US" sz="3000" dirty="0"/>
          </a:p>
        </p:txBody>
      </p:sp>
      <p:sp>
        <p:nvSpPr>
          <p:cNvPr id="5" name="Text 2"/>
          <p:cNvSpPr/>
          <p:nvPr/>
        </p:nvSpPr>
        <p:spPr>
          <a:xfrm>
            <a:off x="640080" y="1901952"/>
            <a:ext cx="10652760" cy="512064"/>
          </a:xfrm>
          <a:prstGeom prst="rect">
            <a:avLst/>
          </a:prstGeom>
          <a:noFill/>
          <a:ln/>
        </p:spPr>
        <p:txBody>
          <a:bodyPr wrap="square" lIns="0" tIns="0" rIns="0" bIns="0" rtlCol="0" anchor="t"/>
          <a:lstStyle/>
          <a:p>
            <a:pPr indent="0" marL="0">
              <a:buNone/>
            </a:pPr>
            <a:r>
              <a:rPr lang="en-US" sz="1500" dirty="0">
                <a:solidFill>
                  <a:srgbClr val="686761"/>
                </a:solidFill>
              </a:rPr>
              <a:t>Example team configuration—not a fixed sequence built into every Session.</a:t>
            </a:r>
            <a:endParaRPr lang="en-US" sz="1500" dirty="0"/>
          </a:p>
        </p:txBody>
      </p:sp>
      <p:sp>
        <p:nvSpPr>
          <p:cNvPr id="6" name="Text 3"/>
          <p:cNvSpPr/>
          <p:nvPr/>
        </p:nvSpPr>
        <p:spPr>
          <a:xfrm>
            <a:off x="713232" y="2770632"/>
            <a:ext cx="4983480" cy="228600"/>
          </a:xfrm>
          <a:prstGeom prst="rect">
            <a:avLst/>
          </a:prstGeom>
          <a:noFill/>
          <a:ln/>
        </p:spPr>
        <p:txBody>
          <a:bodyPr wrap="square" lIns="0" tIns="0" rIns="0" bIns="0" rtlCol="0" anchor="ctr"/>
          <a:lstStyle/>
          <a:p>
            <a:pPr indent="0" marL="0">
              <a:buNone/>
            </a:pPr>
            <a:r>
              <a:rPr lang="en-US" sz="1200" b="1" dirty="0">
                <a:solidFill>
                  <a:srgbClr val="8B5E3C"/>
                </a:solidFill>
              </a:rPr>
              <a:t>IMPLEMENTER / LINUS</a:t>
            </a:r>
            <a:endParaRPr lang="en-US" sz="1200" dirty="0"/>
          </a:p>
        </p:txBody>
      </p:sp>
      <p:sp>
        <p:nvSpPr>
          <p:cNvPr id="7" name="Text 4"/>
          <p:cNvSpPr/>
          <p:nvPr/>
        </p:nvSpPr>
        <p:spPr>
          <a:xfrm>
            <a:off x="713232" y="3209544"/>
            <a:ext cx="4983480" cy="457200"/>
          </a:xfrm>
          <a:prstGeom prst="rect">
            <a:avLst/>
          </a:prstGeom>
          <a:noFill/>
          <a:ln/>
        </p:spPr>
        <p:txBody>
          <a:bodyPr wrap="square" lIns="0" tIns="0" rIns="0" bIns="0" rtlCol="0" anchor="ctr"/>
          <a:lstStyle/>
          <a:p>
            <a:pPr indent="0" marL="0">
              <a:buNone/>
            </a:pPr>
            <a:r>
              <a:rPr lang="en-US" sz="2200" b="1" dirty="0">
                <a:solidFill>
                  <a:srgbClr val="1D1D1B"/>
                </a:solidFill>
              </a:rPr>
              <a:t>Produce evidence.</a:t>
            </a:r>
            <a:endParaRPr lang="en-US" sz="2200" dirty="0"/>
          </a:p>
        </p:txBody>
      </p:sp>
      <p:sp>
        <p:nvSpPr>
          <p:cNvPr id="8" name="Text 5"/>
          <p:cNvSpPr/>
          <p:nvPr/>
        </p:nvSpPr>
        <p:spPr>
          <a:xfrm>
            <a:off x="713232" y="3822192"/>
            <a:ext cx="4983480" cy="1234440"/>
          </a:xfrm>
          <a:prstGeom prst="rect">
            <a:avLst/>
          </a:prstGeom>
          <a:noFill/>
          <a:ln/>
        </p:spPr>
        <p:txBody>
          <a:bodyPr wrap="square" lIns="0" tIns="0" rIns="0" bIns="0" rtlCol="0" anchor="t"/>
          <a:lstStyle/>
          <a:p>
            <a:pPr indent="0" marL="0">
              <a:buNone/>
            </a:pPr>
            <a:r>
              <a:rPr lang="en-US" sz="1700" dirty="0">
                <a:solidFill>
                  <a:srgbClr val="686761"/>
                </a:solidFill>
              </a:rPr>
              <a:t>Inspect the relevant source.</a:t>
            </a:r>
            <a:endParaRPr lang="en-US" sz="1700" dirty="0"/>
          </a:p>
          <a:p>
            <a:pPr indent="0" marL="0">
              <a:buNone/>
            </a:pPr>
            <a:r>
              <a:rPr lang="en-US" sz="1700" dirty="0">
                <a:solidFill>
                  <a:srgbClr val="686761"/>
                </a:solidFill>
              </a:rPr>
              <a:t>Run the bounded check.</a:t>
            </a:r>
            <a:endParaRPr lang="en-US" sz="1700" dirty="0"/>
          </a:p>
          <a:p>
            <a:pPr indent="0" marL="0">
              <a:buNone/>
            </a:pPr>
            <a:r>
              <a:rPr lang="en-US" sz="1700" dirty="0">
                <a:solidFill>
                  <a:srgbClr val="686761"/>
                </a:solidFill>
              </a:rPr>
              <a:t>State exactly what it proves.</a:t>
            </a:r>
            <a:endParaRPr lang="en-US" sz="1700" dirty="0"/>
          </a:p>
        </p:txBody>
      </p:sp>
      <p:sp>
        <p:nvSpPr>
          <p:cNvPr id="9" name="Text 6"/>
          <p:cNvSpPr/>
          <p:nvPr/>
        </p:nvSpPr>
        <p:spPr>
          <a:xfrm>
            <a:off x="6537960" y="2770632"/>
            <a:ext cx="4892040" cy="228600"/>
          </a:xfrm>
          <a:prstGeom prst="rect">
            <a:avLst/>
          </a:prstGeom>
          <a:noFill/>
          <a:ln/>
        </p:spPr>
        <p:txBody>
          <a:bodyPr wrap="square" lIns="0" tIns="0" rIns="0" bIns="0" rtlCol="0" anchor="ctr"/>
          <a:lstStyle/>
          <a:p>
            <a:pPr indent="0" marL="0">
              <a:buNone/>
            </a:pPr>
            <a:r>
              <a:rPr lang="en-US" sz="1200" b="1" dirty="0">
                <a:solidFill>
                  <a:srgbClr val="8B5E3C"/>
                </a:solidFill>
              </a:rPr>
              <a:t>REVIEWER / MARTIN</a:t>
            </a:r>
            <a:endParaRPr lang="en-US" sz="1200" dirty="0"/>
          </a:p>
        </p:txBody>
      </p:sp>
      <p:sp>
        <p:nvSpPr>
          <p:cNvPr id="10" name="Text 7"/>
          <p:cNvSpPr/>
          <p:nvPr/>
        </p:nvSpPr>
        <p:spPr>
          <a:xfrm>
            <a:off x="6537960" y="3209544"/>
            <a:ext cx="4892040" cy="457200"/>
          </a:xfrm>
          <a:prstGeom prst="rect">
            <a:avLst/>
          </a:prstGeom>
          <a:noFill/>
          <a:ln/>
        </p:spPr>
        <p:txBody>
          <a:bodyPr wrap="square" lIns="0" tIns="0" rIns="0" bIns="0" rtlCol="0" anchor="ctr"/>
          <a:lstStyle/>
          <a:p>
            <a:pPr indent="0" marL="0">
              <a:buNone/>
            </a:pPr>
            <a:r>
              <a:rPr lang="en-US" sz="2200" b="1" dirty="0">
                <a:solidFill>
                  <a:srgbClr val="1D1D1B"/>
                </a:solidFill>
              </a:rPr>
              <a:t>Challenge the claim.</a:t>
            </a:r>
            <a:endParaRPr lang="en-US" sz="2200" dirty="0"/>
          </a:p>
        </p:txBody>
      </p:sp>
      <p:sp>
        <p:nvSpPr>
          <p:cNvPr id="11" name="Text 8"/>
          <p:cNvSpPr/>
          <p:nvPr/>
        </p:nvSpPr>
        <p:spPr>
          <a:xfrm>
            <a:off x="6537960" y="3822192"/>
            <a:ext cx="4892040" cy="1234440"/>
          </a:xfrm>
          <a:prstGeom prst="rect">
            <a:avLst/>
          </a:prstGeom>
          <a:noFill/>
          <a:ln/>
        </p:spPr>
        <p:txBody>
          <a:bodyPr wrap="square" lIns="0" tIns="0" rIns="0" bIns="0" rtlCol="0" anchor="t"/>
          <a:lstStyle/>
          <a:p>
            <a:pPr indent="0" marL="0">
              <a:buNone/>
            </a:pPr>
            <a:r>
              <a:rPr lang="en-US" sz="1700" dirty="0">
                <a:solidFill>
                  <a:srgbClr val="686761"/>
                </a:solidFill>
              </a:rPr>
              <a:t>Read the same revision.</a:t>
            </a:r>
            <a:endParaRPr lang="en-US" sz="1700" dirty="0"/>
          </a:p>
          <a:p>
            <a:pPr indent="0" marL="0">
              <a:buNone/>
            </a:pPr>
            <a:r>
              <a:rPr lang="en-US" sz="1700" dirty="0">
                <a:solidFill>
                  <a:srgbClr val="686761"/>
                </a:solidFill>
              </a:rPr>
              <a:t>Check the evidence and its limits.</a:t>
            </a:r>
            <a:endParaRPr lang="en-US" sz="1700" dirty="0"/>
          </a:p>
          <a:p>
            <a:pPr indent="0" marL="0">
              <a:buNone/>
            </a:pPr>
            <a:r>
              <a:rPr lang="en-US" sz="1700" dirty="0">
                <a:solidFill>
                  <a:srgbClr val="686761"/>
                </a:solidFill>
              </a:rPr>
              <a:t>Return approval or a specific blocker.</a:t>
            </a:r>
            <a:endParaRPr lang="en-US" sz="1700" dirty="0"/>
          </a:p>
        </p:txBody>
      </p:sp>
      <p:sp>
        <p:nvSpPr>
          <p:cNvPr id="12" name="Shape 9"/>
          <p:cNvSpPr/>
          <p:nvPr/>
        </p:nvSpPr>
        <p:spPr>
          <a:xfrm>
            <a:off x="731520" y="5605272"/>
            <a:ext cx="10698480" cy="0"/>
          </a:xfrm>
          <a:prstGeom prst="line">
            <a:avLst/>
          </a:prstGeom>
          <a:noFill/>
          <a:ln w="19050">
            <a:solidFill>
              <a:srgbClr val="8B5E3C"/>
            </a:solidFill>
            <a:prstDash val="solid"/>
          </a:ln>
        </p:spPr>
      </p:sp>
      <p:sp>
        <p:nvSpPr>
          <p:cNvPr id="13" name="Text 10"/>
          <p:cNvSpPr/>
          <p:nvPr/>
        </p:nvSpPr>
        <p:spPr>
          <a:xfrm>
            <a:off x="731520" y="5870448"/>
            <a:ext cx="10698480" cy="338328"/>
          </a:xfrm>
          <a:prstGeom prst="rect">
            <a:avLst/>
          </a:prstGeom>
          <a:noFill/>
          <a:ln/>
        </p:spPr>
        <p:txBody>
          <a:bodyPr wrap="square" lIns="0" tIns="0" rIns="0" bIns="0" rtlCol="0" anchor="ctr"/>
          <a:lstStyle/>
          <a:p>
            <a:pPr indent="0" marL="0">
              <a:buNone/>
            </a:pPr>
            <a:r>
              <a:rPr lang="en-US" sz="1700" dirty="0">
                <a:solidFill>
                  <a:srgbClr val="8B5E3C"/>
                </a:solidFill>
              </a:rPr>
              <a:t>For this example: parsing successfully does not prove Session startup works.</a:t>
            </a:r>
            <a:endParaRPr lang="en-US" sz="17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04 / HAND OVER SOMETHING REVIEWABLE</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Route the revision and evidence—not just “please review”.</a:t>
            </a:r>
            <a:endParaRPr lang="en-US" sz="3000" dirty="0"/>
          </a:p>
        </p:txBody>
      </p:sp>
      <p:sp>
        <p:nvSpPr>
          <p:cNvPr id="5" name="Shape 2"/>
          <p:cNvSpPr/>
          <p:nvPr/>
        </p:nvSpPr>
        <p:spPr>
          <a:xfrm>
            <a:off x="685800" y="2743200"/>
            <a:ext cx="3063240" cy="1901952"/>
          </a:xfrm>
          <a:prstGeom prst="rect">
            <a:avLst/>
          </a:prstGeom>
          <a:solidFill>
            <a:srgbClr val="FFFFFF"/>
          </a:solidFill>
          <a:ln w="7620">
            <a:solidFill>
              <a:srgbClr val="D7D2C8"/>
            </a:solidFill>
            <a:prstDash val="solid"/>
          </a:ln>
        </p:spPr>
      </p:sp>
      <p:sp>
        <p:nvSpPr>
          <p:cNvPr id="6" name="Text 3"/>
          <p:cNvSpPr/>
          <p:nvPr/>
        </p:nvSpPr>
        <p:spPr>
          <a:xfrm>
            <a:off x="932688" y="2999232"/>
            <a:ext cx="2606040" cy="365760"/>
          </a:xfrm>
          <a:prstGeom prst="rect">
            <a:avLst/>
          </a:prstGeom>
          <a:noFill/>
          <a:ln/>
        </p:spPr>
        <p:txBody>
          <a:bodyPr wrap="square" lIns="0" tIns="0" rIns="0" bIns="0" rtlCol="0" anchor="ctr"/>
          <a:lstStyle/>
          <a:p>
            <a:pPr indent="0" marL="0">
              <a:buNone/>
            </a:pPr>
            <a:r>
              <a:rPr lang="en-US" sz="2200" b="1" dirty="0">
                <a:solidFill>
                  <a:srgbClr val="1D1D1B"/>
                </a:solidFill>
              </a:rPr>
              <a:t>IMPLEMENT</a:t>
            </a:r>
            <a:endParaRPr lang="en-US" sz="2200" dirty="0"/>
          </a:p>
        </p:txBody>
      </p:sp>
      <p:sp>
        <p:nvSpPr>
          <p:cNvPr id="7" name="Text 4"/>
          <p:cNvSpPr/>
          <p:nvPr/>
        </p:nvSpPr>
        <p:spPr>
          <a:xfrm>
            <a:off x="932688" y="3575304"/>
            <a:ext cx="2606040" cy="868680"/>
          </a:xfrm>
          <a:prstGeom prst="rect">
            <a:avLst/>
          </a:prstGeom>
          <a:noFill/>
          <a:ln/>
        </p:spPr>
        <p:txBody>
          <a:bodyPr wrap="square" lIns="0" tIns="0" rIns="0" bIns="0" rtlCol="0" anchor="t"/>
          <a:lstStyle/>
          <a:p>
            <a:pPr indent="0" marL="0">
              <a:buNone/>
            </a:pPr>
            <a:r>
              <a:rPr lang="en-US" sz="1600" dirty="0">
                <a:solidFill>
                  <a:srgbClr val="686761"/>
                </a:solidFill>
              </a:rPr>
              <a:t>File + exact revision</a:t>
            </a:r>
            <a:endParaRPr lang="en-US" sz="1600" dirty="0"/>
          </a:p>
          <a:p>
            <a:pPr indent="0" marL="0">
              <a:buNone/>
            </a:pPr>
            <a:r>
              <a:rPr lang="en-US" sz="1600" dirty="0">
                <a:solidFill>
                  <a:srgbClr val="686761"/>
                </a:solidFill>
              </a:rPr>
              <a:t>Command + exit result</a:t>
            </a:r>
            <a:endParaRPr lang="en-US" sz="1600" dirty="0"/>
          </a:p>
          <a:p>
            <a:pPr indent="0" marL="0">
              <a:buNone/>
            </a:pPr>
            <a:r>
              <a:rPr lang="en-US" sz="1600" dirty="0">
                <a:solidFill>
                  <a:srgbClr val="686761"/>
                </a:solidFill>
              </a:rPr>
              <a:t>Known limitations</a:t>
            </a:r>
            <a:endParaRPr lang="en-US" sz="1600" dirty="0"/>
          </a:p>
        </p:txBody>
      </p:sp>
      <p:sp>
        <p:nvSpPr>
          <p:cNvPr id="8" name="Shape 5"/>
          <p:cNvSpPr/>
          <p:nvPr/>
        </p:nvSpPr>
        <p:spPr>
          <a:xfrm>
            <a:off x="3877056" y="3520440"/>
            <a:ext cx="1078992" cy="0"/>
          </a:xfrm>
          <a:prstGeom prst="line">
            <a:avLst/>
          </a:prstGeom>
          <a:noFill/>
          <a:ln w="19050">
            <a:solidFill>
              <a:srgbClr val="8B5E3C"/>
            </a:solidFill>
            <a:prstDash val="solid"/>
            <a:tailEnd type="triangle"/>
          </a:ln>
        </p:spPr>
      </p:sp>
      <p:sp>
        <p:nvSpPr>
          <p:cNvPr id="9" name="Shape 6"/>
          <p:cNvSpPr/>
          <p:nvPr/>
        </p:nvSpPr>
        <p:spPr>
          <a:xfrm>
            <a:off x="5074920" y="2743200"/>
            <a:ext cx="2971800" cy="1901952"/>
          </a:xfrm>
          <a:prstGeom prst="rect">
            <a:avLst/>
          </a:prstGeom>
          <a:solidFill>
            <a:srgbClr val="FFFFFF"/>
          </a:solidFill>
          <a:ln w="7620">
            <a:solidFill>
              <a:srgbClr val="D7D2C8"/>
            </a:solidFill>
            <a:prstDash val="solid"/>
          </a:ln>
        </p:spPr>
      </p:sp>
      <p:sp>
        <p:nvSpPr>
          <p:cNvPr id="10" name="Text 7"/>
          <p:cNvSpPr/>
          <p:nvPr/>
        </p:nvSpPr>
        <p:spPr>
          <a:xfrm>
            <a:off x="5321808" y="2999232"/>
            <a:ext cx="2496312" cy="365760"/>
          </a:xfrm>
          <a:prstGeom prst="rect">
            <a:avLst/>
          </a:prstGeom>
          <a:noFill/>
          <a:ln/>
        </p:spPr>
        <p:txBody>
          <a:bodyPr wrap="square" lIns="0" tIns="0" rIns="0" bIns="0" rtlCol="0" anchor="ctr"/>
          <a:lstStyle/>
          <a:p>
            <a:pPr indent="0" marL="0">
              <a:buNone/>
            </a:pPr>
            <a:r>
              <a:rPr lang="en-US" sz="2200" b="1" dirty="0">
                <a:solidFill>
                  <a:srgbClr val="1D1D1B"/>
                </a:solidFill>
              </a:rPr>
              <a:t>REVIEW</a:t>
            </a:r>
            <a:endParaRPr lang="en-US" sz="2200" dirty="0"/>
          </a:p>
        </p:txBody>
      </p:sp>
      <p:sp>
        <p:nvSpPr>
          <p:cNvPr id="11" name="Text 8"/>
          <p:cNvSpPr/>
          <p:nvPr/>
        </p:nvSpPr>
        <p:spPr>
          <a:xfrm>
            <a:off x="5321808" y="3575304"/>
            <a:ext cx="2496312" cy="868680"/>
          </a:xfrm>
          <a:prstGeom prst="rect">
            <a:avLst/>
          </a:prstGeom>
          <a:noFill/>
          <a:ln/>
        </p:spPr>
        <p:txBody>
          <a:bodyPr wrap="square" lIns="0" tIns="0" rIns="0" bIns="0" rtlCol="0" anchor="t"/>
          <a:lstStyle/>
          <a:p>
            <a:pPr indent="0" marL="0">
              <a:buNone/>
            </a:pPr>
            <a:r>
              <a:rPr lang="en-US" sz="1600" dirty="0">
                <a:solidFill>
                  <a:srgbClr val="686761"/>
                </a:solidFill>
              </a:rPr>
              <a:t>Check the same revision.</a:t>
            </a:r>
            <a:endParaRPr lang="en-US" sz="1600" dirty="0"/>
          </a:p>
          <a:p>
            <a:pPr indent="0" marL="0">
              <a:buNone/>
            </a:pPr>
            <a:r>
              <a:rPr lang="en-US" sz="1600" dirty="0">
                <a:solidFill>
                  <a:srgbClr val="686761"/>
                </a:solidFill>
              </a:rPr>
              <a:t>Test the claim against</a:t>
            </a:r>
            <a:endParaRPr lang="en-US" sz="1600" dirty="0"/>
          </a:p>
          <a:p>
            <a:pPr indent="0" marL="0">
              <a:buNone/>
            </a:pPr>
            <a:r>
              <a:rPr lang="en-US" sz="1600" dirty="0">
                <a:solidFill>
                  <a:srgbClr val="686761"/>
                </a:solidFill>
              </a:rPr>
              <a:t>the acceptance criteria.</a:t>
            </a:r>
            <a:endParaRPr lang="en-US" sz="1600" dirty="0"/>
          </a:p>
        </p:txBody>
      </p:sp>
      <p:sp>
        <p:nvSpPr>
          <p:cNvPr id="12" name="Shape 9"/>
          <p:cNvSpPr/>
          <p:nvPr/>
        </p:nvSpPr>
        <p:spPr>
          <a:xfrm>
            <a:off x="8174736" y="3520440"/>
            <a:ext cx="1005840" cy="0"/>
          </a:xfrm>
          <a:prstGeom prst="line">
            <a:avLst/>
          </a:prstGeom>
          <a:noFill/>
          <a:ln w="19050">
            <a:solidFill>
              <a:srgbClr val="8B5E3C"/>
            </a:solidFill>
            <a:prstDash val="solid"/>
            <a:tailEnd type="triangle"/>
          </a:ln>
        </p:spPr>
      </p:sp>
      <p:sp>
        <p:nvSpPr>
          <p:cNvPr id="13" name="Text 10"/>
          <p:cNvSpPr/>
          <p:nvPr/>
        </p:nvSpPr>
        <p:spPr>
          <a:xfrm>
            <a:off x="8247888" y="2953512"/>
            <a:ext cx="1115568" cy="219456"/>
          </a:xfrm>
          <a:prstGeom prst="rect">
            <a:avLst/>
          </a:prstGeom>
          <a:noFill/>
          <a:ln/>
        </p:spPr>
        <p:txBody>
          <a:bodyPr wrap="square" lIns="0" tIns="0" rIns="0" bIns="0" rtlCol="0" anchor="ctr"/>
          <a:lstStyle/>
          <a:p>
            <a:pPr indent="0" marL="0">
              <a:buNone/>
            </a:pPr>
            <a:r>
              <a:rPr lang="en-US" sz="1100" b="1" dirty="0">
                <a:solidFill>
                  <a:srgbClr val="8B5E3C"/>
                </a:solidFill>
              </a:rPr>
              <a:t>APPROVE</a:t>
            </a:r>
            <a:endParaRPr lang="en-US" sz="1100" dirty="0"/>
          </a:p>
        </p:txBody>
      </p:sp>
      <p:sp>
        <p:nvSpPr>
          <p:cNvPr id="14" name="Text 11"/>
          <p:cNvSpPr/>
          <p:nvPr/>
        </p:nvSpPr>
        <p:spPr>
          <a:xfrm>
            <a:off x="9381744" y="3310128"/>
            <a:ext cx="2103120" cy="384048"/>
          </a:xfrm>
          <a:prstGeom prst="rect">
            <a:avLst/>
          </a:prstGeom>
          <a:noFill/>
          <a:ln/>
        </p:spPr>
        <p:txBody>
          <a:bodyPr wrap="square" lIns="0" tIns="0" rIns="0" bIns="0" rtlCol="0" anchor="ctr"/>
          <a:lstStyle/>
          <a:p>
            <a:pPr indent="0" marL="0">
              <a:buNone/>
            </a:pPr>
            <a:r>
              <a:rPr lang="en-US" sz="2300" b="1" dirty="0">
                <a:solidFill>
                  <a:srgbClr val="1D1D1B"/>
                </a:solidFill>
              </a:rPr>
              <a:t>DELIVER</a:t>
            </a:r>
            <a:endParaRPr lang="en-US" sz="2300" dirty="0"/>
          </a:p>
        </p:txBody>
      </p:sp>
      <p:sp>
        <p:nvSpPr>
          <p:cNvPr id="15" name="Text 12"/>
          <p:cNvSpPr/>
          <p:nvPr/>
        </p:nvSpPr>
        <p:spPr>
          <a:xfrm>
            <a:off x="9381744" y="3840480"/>
            <a:ext cx="2075688" cy="594360"/>
          </a:xfrm>
          <a:prstGeom prst="rect">
            <a:avLst/>
          </a:prstGeom>
          <a:noFill/>
          <a:ln/>
        </p:spPr>
        <p:txBody>
          <a:bodyPr wrap="square" lIns="0" tIns="0" rIns="0" bIns="0" rtlCol="0" anchor="t"/>
          <a:lstStyle/>
          <a:p>
            <a:pPr indent="0" marL="0">
              <a:buNone/>
            </a:pPr>
            <a:r>
              <a:rPr lang="en-US" sz="1500" dirty="0">
                <a:solidFill>
                  <a:srgbClr val="686761"/>
                </a:solidFill>
              </a:rPr>
              <a:t>Only the reviewed result</a:t>
            </a:r>
            <a:endParaRPr lang="en-US" sz="1500" dirty="0"/>
          </a:p>
        </p:txBody>
      </p:sp>
      <p:sp>
        <p:nvSpPr>
          <p:cNvPr id="16" name="Shape 13"/>
          <p:cNvSpPr/>
          <p:nvPr/>
        </p:nvSpPr>
        <p:spPr>
          <a:xfrm>
            <a:off x="2231136" y="5257800"/>
            <a:ext cx="4297680" cy="0"/>
          </a:xfrm>
          <a:prstGeom prst="line">
            <a:avLst/>
          </a:prstGeom>
          <a:noFill/>
          <a:ln w="19050">
            <a:solidFill>
              <a:srgbClr val="8B5E3C"/>
            </a:solidFill>
            <a:prstDash val="solid"/>
            <a:headEnd type="triangle"/>
          </a:ln>
        </p:spPr>
      </p:sp>
      <p:sp>
        <p:nvSpPr>
          <p:cNvPr id="17" name="Text 14"/>
          <p:cNvSpPr/>
          <p:nvPr/>
        </p:nvSpPr>
        <p:spPr>
          <a:xfrm>
            <a:off x="2286000" y="5504688"/>
            <a:ext cx="6035040" cy="274320"/>
          </a:xfrm>
          <a:prstGeom prst="rect">
            <a:avLst/>
          </a:prstGeom>
          <a:noFill/>
          <a:ln/>
        </p:spPr>
        <p:txBody>
          <a:bodyPr wrap="square" lIns="0" tIns="0" rIns="0" bIns="0" rtlCol="0" anchor="ctr"/>
          <a:lstStyle/>
          <a:p>
            <a:pPr indent="0" marL="0">
              <a:buNone/>
            </a:pPr>
            <a:r>
              <a:rPr lang="en-US" sz="1300" b="1" dirty="0">
                <a:solidFill>
                  <a:srgbClr val="8B5E3C"/>
                </a:solidFill>
              </a:rPr>
              <a:t>BLOCKER → CORRECT THE WORK → REVIEW AGAIN</a:t>
            </a:r>
            <a:endParaRPr lang="en-US" sz="13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05 / INSPECT THE WORKSPACE</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Open the source. Read the command and its result.</a:t>
            </a:r>
            <a:endParaRPr lang="en-US" sz="3000" dirty="0"/>
          </a:p>
        </p:txBody>
      </p:sp>
      <p:sp>
        <p:nvSpPr>
          <p:cNvPr id="5" name="Text 2"/>
          <p:cNvSpPr/>
          <p:nvPr/>
        </p:nvSpPr>
        <p:spPr>
          <a:xfrm>
            <a:off x="685800" y="2148840"/>
            <a:ext cx="5349240" cy="329184"/>
          </a:xfrm>
          <a:prstGeom prst="rect">
            <a:avLst/>
          </a:prstGeom>
          <a:noFill/>
          <a:ln/>
        </p:spPr>
        <p:txBody>
          <a:bodyPr wrap="square" lIns="0" tIns="0" rIns="0" bIns="0" rtlCol="0" anchor="ctr"/>
          <a:lstStyle/>
          <a:p>
            <a:pPr indent="0" marL="0">
              <a:buNone/>
            </a:pPr>
            <a:r>
              <a:rPr lang="en-US" sz="1600" b="1" dirty="0">
                <a:solidFill>
                  <a:srgbClr val="1D1D1B"/>
                </a:solidFill>
              </a:rPr>
              <a:t>FILES / agent/yeaft/session.js</a:t>
            </a:r>
            <a:endParaRPr lang="en-US" sz="1600" dirty="0"/>
          </a:p>
        </p:txBody>
      </p:sp>
      <p:sp>
        <p:nvSpPr>
          <p:cNvPr id="6" name="Text 3"/>
          <p:cNvSpPr/>
          <p:nvPr/>
        </p:nvSpPr>
        <p:spPr>
          <a:xfrm>
            <a:off x="6245352" y="2148840"/>
            <a:ext cx="5257800" cy="329184"/>
          </a:xfrm>
          <a:prstGeom prst="rect">
            <a:avLst/>
          </a:prstGeom>
          <a:noFill/>
          <a:ln/>
        </p:spPr>
        <p:txBody>
          <a:bodyPr wrap="square" lIns="0" tIns="0" rIns="0" bIns="0" rtlCol="0" anchor="ctr"/>
          <a:lstStyle/>
          <a:p>
            <a:pPr indent="0" marL="0">
              <a:buNone/>
            </a:pPr>
            <a:r>
              <a:rPr lang="en-US" sz="1600" b="1" dirty="0">
                <a:solidFill>
                  <a:srgbClr val="1D1D1B"/>
                </a:solidFill>
              </a:rPr>
              <a:t>TERMINAL / syntax check</a:t>
            </a:r>
            <a:endParaRPr lang="en-US" sz="1600" dirty="0"/>
          </a:p>
        </p:txBody>
      </p:sp>
      <p:pic>
        <p:nvPicPr>
          <p:cNvPr id="7" name="Image 0" descr="/home/azureuser/projects/yeaft-web-code-agent/.yeaft/worktrees/showcase-story-visual-refresh/artifacts/showcase/assets/08-workbench-files-correct.png">    </p:cNvPr>
          <p:cNvPicPr>
            <a:picLocks noChangeAspect="1"/>
          </p:cNvPicPr>
          <p:nvPr/>
        </p:nvPicPr>
        <p:blipFill>
          <a:blip r:embed="rId1"/>
          <a:stretch>
            <a:fillRect/>
          </a:stretch>
        </p:blipFill>
        <p:spPr>
          <a:xfrm>
            <a:off x="1804568" y="2679192"/>
            <a:ext cx="3075127" cy="3127248"/>
          </a:xfrm>
          <a:prstGeom prst="rect">
            <a:avLst/>
          </a:prstGeom>
        </p:spPr>
      </p:pic>
      <p:pic>
        <p:nvPicPr>
          <p:cNvPr id="8" name="Image 1" descr="/home/azureuser/projects/yeaft-web-code-agent/.yeaft/worktrees/showcase-story-visual-refresh/artifacts/showcase/assets/08-workbench-terminal-correct.png">    </p:cNvPr>
          <p:cNvPicPr>
            <a:picLocks noChangeAspect="1"/>
          </p:cNvPicPr>
          <p:nvPr/>
        </p:nvPicPr>
        <p:blipFill>
          <a:blip r:embed="rId2"/>
          <a:stretch>
            <a:fillRect/>
          </a:stretch>
        </p:blipFill>
        <p:spPr>
          <a:xfrm>
            <a:off x="6817731" y="2679192"/>
            <a:ext cx="4149618" cy="3127248"/>
          </a:xfrm>
          <a:prstGeom prst="rect">
            <a:avLst/>
          </a:prstGeom>
        </p:spPr>
      </p:pic>
      <p:sp>
        <p:nvSpPr>
          <p:cNvPr id="9" name="Text 4"/>
          <p:cNvSpPr/>
          <p:nvPr/>
        </p:nvSpPr>
        <p:spPr>
          <a:xfrm>
            <a:off x="685800" y="5989320"/>
            <a:ext cx="5303520" cy="256032"/>
          </a:xfrm>
          <a:prstGeom prst="rect">
            <a:avLst/>
          </a:prstGeom>
          <a:noFill/>
          <a:ln/>
        </p:spPr>
        <p:txBody>
          <a:bodyPr wrap="square" lIns="0" tIns="0" rIns="0" bIns="0" rtlCol="0" anchor="ctr"/>
          <a:lstStyle/>
          <a:p>
            <a:pPr indent="0" marL="0">
              <a:buNone/>
            </a:pPr>
            <a:r>
              <a:rPr lang="en-US" sz="1400" dirty="0">
                <a:solidFill>
                  <a:srgbClr val="686761"/>
                </a:solidFill>
              </a:rPr>
              <a:t>Visible path + real source</a:t>
            </a:r>
            <a:endParaRPr lang="en-US" sz="1400" dirty="0"/>
          </a:p>
        </p:txBody>
      </p:sp>
      <p:sp>
        <p:nvSpPr>
          <p:cNvPr id="10" name="Text 5"/>
          <p:cNvSpPr/>
          <p:nvPr/>
        </p:nvSpPr>
        <p:spPr>
          <a:xfrm>
            <a:off x="6245352" y="5989320"/>
            <a:ext cx="5257800" cy="256032"/>
          </a:xfrm>
          <a:prstGeom prst="rect">
            <a:avLst/>
          </a:prstGeom>
          <a:noFill/>
          <a:ln/>
        </p:spPr>
        <p:txBody>
          <a:bodyPr wrap="square" lIns="0" tIns="0" rIns="0" bIns="0" rtlCol="0" anchor="ctr"/>
          <a:lstStyle/>
          <a:p>
            <a:pPr indent="0" marL="0">
              <a:buNone/>
            </a:pPr>
            <a:r>
              <a:rPr lang="en-US" sz="1400" dirty="0">
                <a:solidFill>
                  <a:srgbClr val="8B5E3C"/>
                </a:solidFill>
              </a:rPr>
              <a:t>node --check ≠ a behavioral test</a:t>
            </a:r>
            <a:endParaRPr lang="en-US" sz="1400" dirty="0"/>
          </a:p>
        </p:txBody>
      </p:sp>
      <p:sp>
        <p:nvSpPr>
          <p:cNvPr id="11" name="Text 6"/>
          <p:cNvSpPr/>
          <p:nvPr/>
        </p:nvSpPr>
        <p:spPr>
          <a:xfrm>
            <a:off x="621792" y="6428232"/>
            <a:ext cx="10058400" cy="256032"/>
          </a:xfrm>
          <a:prstGeom prst="rect">
            <a:avLst/>
          </a:prstGeom>
          <a:noFill/>
          <a:ln/>
        </p:spPr>
        <p:txBody>
          <a:bodyPr wrap="square" lIns="0" tIns="0" rIns="0" bIns="0" rtlCol="0" anchor="ctr"/>
          <a:lstStyle/>
          <a:p>
            <a:pPr indent="0" marL="0">
              <a:buNone/>
            </a:pPr>
            <a:r>
              <a:rPr lang="en-US" sz="1000" dirty="0">
                <a:solidFill>
                  <a:srgbClr val="686761"/>
                </a:solidFill>
              </a:rPr>
              <a:t>Real Yeaft UI · Staged inspection demo · Recorded command output</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06 / PRESERVE LONGER WORK · PREVIEW</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When the goal outlasts a conversation, record it as work.</a:t>
            </a:r>
            <a:endParaRPr lang="en-US" sz="3000" dirty="0"/>
          </a:p>
        </p:txBody>
      </p:sp>
      <p:pic>
        <p:nvPicPr>
          <p:cNvPr id="5" name="Image 0" descr="/home/azureuser/projects/yeaft-web-code-agent/.yeaft/worktrees/showcase-story-visual-refresh/artifacts/showcase/assets/09-work-center-structure.png">    </p:cNvPr>
          <p:cNvPicPr>
            <a:picLocks noChangeAspect="1"/>
          </p:cNvPicPr>
          <p:nvPr/>
        </p:nvPicPr>
        <p:blipFill>
          <a:blip r:embed="rId1"/>
          <a:stretch>
            <a:fillRect/>
          </a:stretch>
        </p:blipFill>
        <p:spPr>
          <a:xfrm>
            <a:off x="1843339" y="2194560"/>
            <a:ext cx="5054986" cy="3858768"/>
          </a:xfrm>
          <a:prstGeom prst="rect">
            <a:avLst/>
          </a:prstGeom>
        </p:spPr>
      </p:pic>
      <p:sp>
        <p:nvSpPr>
          <p:cNvPr id="6" name="Text 2"/>
          <p:cNvSpPr/>
          <p:nvPr/>
        </p:nvSpPr>
        <p:spPr>
          <a:xfrm>
            <a:off x="8366760" y="2615184"/>
            <a:ext cx="2971800" cy="274320"/>
          </a:xfrm>
          <a:prstGeom prst="rect">
            <a:avLst/>
          </a:prstGeom>
          <a:noFill/>
          <a:ln/>
        </p:spPr>
        <p:txBody>
          <a:bodyPr wrap="square" lIns="0" tIns="0" rIns="0" bIns="0" rtlCol="0" anchor="ctr"/>
          <a:lstStyle/>
          <a:p>
            <a:pPr indent="0" marL="0">
              <a:buNone/>
            </a:pPr>
            <a:r>
              <a:rPr lang="en-US" sz="1300" b="1" dirty="0">
                <a:solidFill>
                  <a:srgbClr val="8B5E3C"/>
                </a:solidFill>
              </a:rPr>
              <a:t>WORKITEM</a:t>
            </a:r>
            <a:endParaRPr lang="en-US" sz="1300" dirty="0"/>
          </a:p>
        </p:txBody>
      </p:sp>
      <p:sp>
        <p:nvSpPr>
          <p:cNvPr id="7" name="Text 3"/>
          <p:cNvSpPr/>
          <p:nvPr/>
        </p:nvSpPr>
        <p:spPr>
          <a:xfrm>
            <a:off x="8366760" y="3017520"/>
            <a:ext cx="2971800" cy="594360"/>
          </a:xfrm>
          <a:prstGeom prst="rect">
            <a:avLst/>
          </a:prstGeom>
          <a:noFill/>
          <a:ln/>
        </p:spPr>
        <p:txBody>
          <a:bodyPr wrap="square" lIns="0" tIns="0" rIns="0" bIns="0" rtlCol="0" anchor="t"/>
          <a:lstStyle/>
          <a:p>
            <a:pPr indent="0" marL="0">
              <a:buNone/>
            </a:pPr>
            <a:r>
              <a:rPr lang="en-US" sz="1800" dirty="0">
                <a:solidFill>
                  <a:srgbClr val="686761"/>
                </a:solidFill>
              </a:rPr>
              <a:t>The goal and acceptance criteria</a:t>
            </a:r>
            <a:endParaRPr lang="en-US" sz="1800" dirty="0"/>
          </a:p>
        </p:txBody>
      </p:sp>
      <p:sp>
        <p:nvSpPr>
          <p:cNvPr id="8" name="Text 4"/>
          <p:cNvSpPr/>
          <p:nvPr/>
        </p:nvSpPr>
        <p:spPr>
          <a:xfrm>
            <a:off x="8366760" y="3730752"/>
            <a:ext cx="2971800" cy="274320"/>
          </a:xfrm>
          <a:prstGeom prst="rect">
            <a:avLst/>
          </a:prstGeom>
          <a:noFill/>
          <a:ln/>
        </p:spPr>
        <p:txBody>
          <a:bodyPr wrap="square" lIns="0" tIns="0" rIns="0" bIns="0" rtlCol="0" anchor="ctr"/>
          <a:lstStyle/>
          <a:p>
            <a:pPr indent="0" marL="0">
              <a:buNone/>
            </a:pPr>
            <a:r>
              <a:rPr lang="en-US" sz="1300" b="1" dirty="0">
                <a:solidFill>
                  <a:srgbClr val="8B5E3C"/>
                </a:solidFill>
              </a:rPr>
              <a:t>ACTION</a:t>
            </a:r>
            <a:endParaRPr lang="en-US" sz="1300" dirty="0"/>
          </a:p>
        </p:txBody>
      </p:sp>
      <p:sp>
        <p:nvSpPr>
          <p:cNvPr id="9" name="Text 5"/>
          <p:cNvSpPr/>
          <p:nvPr/>
        </p:nvSpPr>
        <p:spPr>
          <a:xfrm>
            <a:off x="8366760" y="4133088"/>
            <a:ext cx="2971800" cy="594360"/>
          </a:xfrm>
          <a:prstGeom prst="rect">
            <a:avLst/>
          </a:prstGeom>
          <a:noFill/>
          <a:ln/>
        </p:spPr>
        <p:txBody>
          <a:bodyPr wrap="square" lIns="0" tIns="0" rIns="0" bIns="0" rtlCol="0" anchor="t"/>
          <a:lstStyle/>
          <a:p>
            <a:pPr indent="0" marL="0">
              <a:buNone/>
            </a:pPr>
            <a:r>
              <a:rPr lang="en-US" sz="1800" dirty="0">
                <a:solidFill>
                  <a:srgbClr val="686761"/>
                </a:solidFill>
              </a:rPr>
              <a:t>A concrete unit of work</a:t>
            </a:r>
            <a:endParaRPr lang="en-US" sz="1800" dirty="0"/>
          </a:p>
        </p:txBody>
      </p:sp>
      <p:sp>
        <p:nvSpPr>
          <p:cNvPr id="10" name="Text 6"/>
          <p:cNvSpPr/>
          <p:nvPr/>
        </p:nvSpPr>
        <p:spPr>
          <a:xfrm>
            <a:off x="8366760" y="4846320"/>
            <a:ext cx="2971800" cy="274320"/>
          </a:xfrm>
          <a:prstGeom prst="rect">
            <a:avLst/>
          </a:prstGeom>
          <a:noFill/>
          <a:ln/>
        </p:spPr>
        <p:txBody>
          <a:bodyPr wrap="square" lIns="0" tIns="0" rIns="0" bIns="0" rtlCol="0" anchor="ctr"/>
          <a:lstStyle/>
          <a:p>
            <a:pPr indent="0" marL="0">
              <a:buNone/>
            </a:pPr>
            <a:r>
              <a:rPr lang="en-US" sz="1300" b="1" dirty="0">
                <a:solidFill>
                  <a:srgbClr val="8B5E3C"/>
                </a:solidFill>
              </a:rPr>
              <a:t>RUN</a:t>
            </a:r>
            <a:endParaRPr lang="en-US" sz="1300" dirty="0"/>
          </a:p>
        </p:txBody>
      </p:sp>
      <p:sp>
        <p:nvSpPr>
          <p:cNvPr id="11" name="Text 7"/>
          <p:cNvSpPr/>
          <p:nvPr/>
        </p:nvSpPr>
        <p:spPr>
          <a:xfrm>
            <a:off x="8366760" y="5248656"/>
            <a:ext cx="2971800" cy="594360"/>
          </a:xfrm>
          <a:prstGeom prst="rect">
            <a:avLst/>
          </a:prstGeom>
          <a:noFill/>
          <a:ln/>
        </p:spPr>
        <p:txBody>
          <a:bodyPr wrap="square" lIns="0" tIns="0" rIns="0" bIns="0" rtlCol="0" anchor="t"/>
          <a:lstStyle/>
          <a:p>
            <a:pPr indent="0" marL="0">
              <a:buNone/>
            </a:pPr>
            <a:r>
              <a:rPr lang="en-US" sz="1800" dirty="0">
                <a:solidFill>
                  <a:srgbClr val="686761"/>
                </a:solidFill>
              </a:rPr>
              <a:t>One execution attempt and result</a:t>
            </a:r>
            <a:endParaRPr lang="en-US" sz="1800" dirty="0"/>
          </a:p>
        </p:txBody>
      </p:sp>
      <p:sp>
        <p:nvSpPr>
          <p:cNvPr id="12" name="Text 8"/>
          <p:cNvSpPr/>
          <p:nvPr/>
        </p:nvSpPr>
        <p:spPr>
          <a:xfrm>
            <a:off x="621792" y="6428232"/>
            <a:ext cx="10058400" cy="256032"/>
          </a:xfrm>
          <a:prstGeom prst="rect">
            <a:avLst/>
          </a:prstGeom>
          <a:noFill/>
          <a:ln/>
        </p:spPr>
        <p:txBody>
          <a:bodyPr wrap="square" lIns="0" tIns="0" rIns="0" bIns="0" rtlCol="0" anchor="ctr"/>
          <a:lstStyle/>
          <a:p>
            <a:pPr indent="0" marL="0">
              <a:buNone/>
            </a:pPr>
            <a:r>
              <a:rPr lang="en-US" sz="1000" dirty="0">
                <a:solidFill>
                  <a:srgbClr val="686761"/>
                </a:solidFill>
              </a:rPr>
              <a:t>Real Yeaft UI · Staged inspection demo · Separate from Session history</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THE BOUNDARY</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Progress is useful only when its limits are visible.</a:t>
            </a:r>
            <a:endParaRPr lang="en-US" sz="3000" dirty="0"/>
          </a:p>
        </p:txBody>
      </p:sp>
      <p:sp>
        <p:nvSpPr>
          <p:cNvPr id="5" name="Text 2"/>
          <p:cNvSpPr/>
          <p:nvPr/>
        </p:nvSpPr>
        <p:spPr>
          <a:xfrm>
            <a:off x="694944" y="2770632"/>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COORDINATION</a:t>
            </a:r>
            <a:endParaRPr lang="en-US" sz="1200" dirty="0"/>
          </a:p>
        </p:txBody>
      </p:sp>
      <p:sp>
        <p:nvSpPr>
          <p:cNvPr id="6" name="Text 3"/>
          <p:cNvSpPr/>
          <p:nvPr/>
        </p:nvSpPr>
        <p:spPr>
          <a:xfrm>
            <a:off x="694944" y="3209544"/>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Check prerequisites.</a:t>
            </a:r>
            <a:endParaRPr lang="en-US" sz="2200" dirty="0"/>
          </a:p>
        </p:txBody>
      </p:sp>
      <p:sp>
        <p:nvSpPr>
          <p:cNvPr id="7" name="Text 4"/>
          <p:cNvSpPr/>
          <p:nvPr/>
        </p:nvSpPr>
        <p:spPr>
          <a:xfrm>
            <a:off x="694944" y="3822192"/>
            <a:ext cx="3246120" cy="1234440"/>
          </a:xfrm>
          <a:prstGeom prst="rect">
            <a:avLst/>
          </a:prstGeom>
          <a:noFill/>
          <a:ln/>
        </p:spPr>
        <p:txBody>
          <a:bodyPr wrap="square" lIns="0" tIns="0" rIns="0" bIns="0" rtlCol="0" anchor="t"/>
          <a:lstStyle/>
          <a:p>
            <a:pPr indent="0" marL="0">
              <a:buNone/>
            </a:pPr>
            <a:r>
              <a:rPr lang="en-US" sz="1700" dirty="0">
                <a:solidFill>
                  <a:srgbClr val="686761"/>
                </a:solidFill>
              </a:rPr>
              <a:t>Results and workspace conflicts affect what can run next. A “read” label is not a sandbox.</a:t>
            </a:r>
            <a:endParaRPr lang="en-US" sz="1700" dirty="0"/>
          </a:p>
        </p:txBody>
      </p:sp>
      <p:sp>
        <p:nvSpPr>
          <p:cNvPr id="8" name="Text 5"/>
          <p:cNvSpPr/>
          <p:nvPr/>
        </p:nvSpPr>
        <p:spPr>
          <a:xfrm>
            <a:off x="4453128" y="2770632"/>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STOPPING</a:t>
            </a:r>
            <a:endParaRPr lang="en-US" sz="1200" dirty="0"/>
          </a:p>
        </p:txBody>
      </p:sp>
      <p:sp>
        <p:nvSpPr>
          <p:cNvPr id="9" name="Text 6"/>
          <p:cNvSpPr/>
          <p:nvPr/>
        </p:nvSpPr>
        <p:spPr>
          <a:xfrm>
            <a:off x="4453128" y="3209544"/>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Expose the blocker.</a:t>
            </a:r>
            <a:endParaRPr lang="en-US" sz="2200" dirty="0"/>
          </a:p>
        </p:txBody>
      </p:sp>
      <p:sp>
        <p:nvSpPr>
          <p:cNvPr id="10" name="Text 7"/>
          <p:cNvSpPr/>
          <p:nvPr/>
        </p:nvSpPr>
        <p:spPr>
          <a:xfrm>
            <a:off x="4453128" y="3822192"/>
            <a:ext cx="3246120" cy="1234440"/>
          </a:xfrm>
          <a:prstGeom prst="rect">
            <a:avLst/>
          </a:prstGeom>
          <a:noFill/>
          <a:ln/>
        </p:spPr>
        <p:txBody>
          <a:bodyPr wrap="square" lIns="0" tIns="0" rIns="0" bIns="0" rtlCol="0" anchor="t"/>
          <a:lstStyle/>
          <a:p>
            <a:pPr indent="0" marL="0">
              <a:buNone/>
            </a:pPr>
            <a:r>
              <a:rPr lang="en-US" sz="1700" dirty="0">
                <a:solidFill>
                  <a:srgbClr val="686761"/>
                </a:solidFill>
              </a:rPr>
              <a:t>Missing evidence, failure, or a required decision must not be reported as success.</a:t>
            </a:r>
            <a:endParaRPr lang="en-US" sz="1700" dirty="0"/>
          </a:p>
        </p:txBody>
      </p:sp>
      <p:sp>
        <p:nvSpPr>
          <p:cNvPr id="11" name="Text 8"/>
          <p:cNvSpPr/>
          <p:nvPr/>
        </p:nvSpPr>
        <p:spPr>
          <a:xfrm>
            <a:off x="8220456" y="2770632"/>
            <a:ext cx="3246120" cy="228600"/>
          </a:xfrm>
          <a:prstGeom prst="rect">
            <a:avLst/>
          </a:prstGeom>
          <a:noFill/>
          <a:ln/>
        </p:spPr>
        <p:txBody>
          <a:bodyPr wrap="square" lIns="0" tIns="0" rIns="0" bIns="0" rtlCol="0" anchor="ctr"/>
          <a:lstStyle/>
          <a:p>
            <a:pPr indent="0" marL="0">
              <a:buNone/>
            </a:pPr>
            <a:r>
              <a:rPr lang="en-US" sz="1200" b="1" dirty="0">
                <a:solidFill>
                  <a:srgbClr val="8B5E3C"/>
                </a:solidFill>
              </a:rPr>
              <a:t>ACCEPTANCE</a:t>
            </a:r>
            <a:endParaRPr lang="en-US" sz="1200" dirty="0"/>
          </a:p>
        </p:txBody>
      </p:sp>
      <p:sp>
        <p:nvSpPr>
          <p:cNvPr id="12" name="Text 9"/>
          <p:cNvSpPr/>
          <p:nvPr/>
        </p:nvSpPr>
        <p:spPr>
          <a:xfrm>
            <a:off x="8220456" y="3209544"/>
            <a:ext cx="3246120" cy="457200"/>
          </a:xfrm>
          <a:prstGeom prst="rect">
            <a:avLst/>
          </a:prstGeom>
          <a:noFill/>
          <a:ln/>
        </p:spPr>
        <p:txBody>
          <a:bodyPr wrap="square" lIns="0" tIns="0" rIns="0" bIns="0" rtlCol="0" anchor="ctr"/>
          <a:lstStyle/>
          <a:p>
            <a:pPr indent="0" marL="0">
              <a:buNone/>
            </a:pPr>
            <a:r>
              <a:rPr lang="en-US" sz="2200" b="1" dirty="0">
                <a:solidFill>
                  <a:srgbClr val="1D1D1B"/>
                </a:solidFill>
              </a:rPr>
              <a:t>Verify the goal.</a:t>
            </a:r>
            <a:endParaRPr lang="en-US" sz="2200" dirty="0"/>
          </a:p>
        </p:txBody>
      </p:sp>
      <p:sp>
        <p:nvSpPr>
          <p:cNvPr id="13" name="Text 10"/>
          <p:cNvSpPr/>
          <p:nvPr/>
        </p:nvSpPr>
        <p:spPr>
          <a:xfrm>
            <a:off x="8220456" y="3822192"/>
            <a:ext cx="3246120" cy="1234440"/>
          </a:xfrm>
          <a:prstGeom prst="rect">
            <a:avLst/>
          </a:prstGeom>
          <a:noFill/>
          <a:ln/>
        </p:spPr>
        <p:txBody>
          <a:bodyPr wrap="square" lIns="0" tIns="0" rIns="0" bIns="0" rtlCol="0" anchor="t"/>
          <a:lstStyle/>
          <a:p>
            <a:pPr indent="0" marL="0">
              <a:buNone/>
            </a:pPr>
            <a:r>
              <a:rPr lang="en-US" sz="1700" dirty="0">
                <a:solidFill>
                  <a:srgbClr val="686761"/>
                </a:solidFill>
              </a:rPr>
              <a:t>The inspection passed syntax. Startup behavior remains untested; that limit stays visible.</a:t>
            </a:r>
            <a:endParaRPr lang="en-US" sz="1700" dirty="0"/>
          </a:p>
        </p:txBody>
      </p:sp>
      <p:sp>
        <p:nvSpPr>
          <p:cNvPr id="14" name="Text 11"/>
          <p:cNvSpPr/>
          <p:nvPr/>
        </p:nvSpPr>
        <p:spPr>
          <a:xfrm>
            <a:off x="713232" y="5870448"/>
            <a:ext cx="10698480" cy="329184"/>
          </a:xfrm>
          <a:prstGeom prst="rect">
            <a:avLst/>
          </a:prstGeom>
          <a:noFill/>
          <a:ln/>
        </p:spPr>
        <p:txBody>
          <a:bodyPr wrap="square" lIns="0" tIns="0" rIns="0" bIns="0" rtlCol="0" anchor="ctr"/>
          <a:lstStyle/>
          <a:p>
            <a:pPr indent="0" marL="0">
              <a:buNone/>
            </a:pPr>
            <a:r>
              <a:rPr lang="en-US" sz="2000" b="1" dirty="0">
                <a:solidFill>
                  <a:srgbClr val="8B5E3C"/>
                </a:solidFill>
              </a:rPr>
              <a:t>A finished response is not proof of a finished engineering task.</a:t>
            </a:r>
            <a:endParaRPr lang="en-US" sz="2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THE HANDOFF</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What can the next engineer check?</a:t>
            </a:r>
            <a:endParaRPr lang="en-US" sz="3000" dirty="0"/>
          </a:p>
        </p:txBody>
      </p:sp>
      <p:sp>
        <p:nvSpPr>
          <p:cNvPr id="5" name="Text 2"/>
          <p:cNvSpPr/>
          <p:nvPr/>
        </p:nvSpPr>
        <p:spPr>
          <a:xfrm>
            <a:off x="640080" y="1901952"/>
            <a:ext cx="10652760" cy="512064"/>
          </a:xfrm>
          <a:prstGeom prst="rect">
            <a:avLst/>
          </a:prstGeom>
          <a:noFill/>
          <a:ln/>
        </p:spPr>
        <p:txBody>
          <a:bodyPr wrap="square" lIns="0" tIns="0" rIns="0" bIns="0" rtlCol="0" anchor="t"/>
          <a:lstStyle/>
          <a:p>
            <a:pPr indent="0" marL="0">
              <a:buNone/>
            </a:pPr>
            <a:r>
              <a:rPr lang="en-US" sz="1500" dirty="0">
                <a:solidFill>
                  <a:srgbClr val="686761"/>
                </a:solidFill>
              </a:rPr>
              <a:t>Inspection example: keep the result narrow enough to be true.</a:t>
            </a:r>
            <a:endParaRPr lang="en-US" sz="1500" dirty="0"/>
          </a:p>
        </p:txBody>
      </p:sp>
      <p:sp>
        <p:nvSpPr>
          <p:cNvPr id="6" name="Text 3"/>
          <p:cNvSpPr/>
          <p:nvPr/>
        </p:nvSpPr>
        <p:spPr>
          <a:xfrm>
            <a:off x="704088" y="2651760"/>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SOURCE</a:t>
            </a:r>
            <a:endParaRPr lang="en-US" sz="1100" dirty="0"/>
          </a:p>
        </p:txBody>
      </p:sp>
      <p:sp>
        <p:nvSpPr>
          <p:cNvPr id="7" name="Text 4"/>
          <p:cNvSpPr/>
          <p:nvPr/>
        </p:nvSpPr>
        <p:spPr>
          <a:xfrm>
            <a:off x="2743200" y="2633472"/>
            <a:ext cx="8714232" cy="365760"/>
          </a:xfrm>
          <a:prstGeom prst="rect">
            <a:avLst/>
          </a:prstGeom>
          <a:noFill/>
          <a:ln/>
        </p:spPr>
        <p:txBody>
          <a:bodyPr wrap="square" lIns="0" tIns="0" rIns="0" bIns="0" rtlCol="0" anchor="ctr"/>
          <a:lstStyle/>
          <a:p>
            <a:pPr indent="0" marL="0">
              <a:buNone/>
            </a:pPr>
            <a:r>
              <a:rPr lang="en-US" sz="1600" dirty="0">
                <a:solidFill>
                  <a:srgbClr val="1D1D1B"/>
                </a:solidFill>
              </a:rPr>
              <a:t>agent/yeaft/session.js · inspected, not modified</a:t>
            </a:r>
            <a:endParaRPr lang="en-US" sz="1600" dirty="0"/>
          </a:p>
        </p:txBody>
      </p:sp>
      <p:sp>
        <p:nvSpPr>
          <p:cNvPr id="8" name="Shape 5"/>
          <p:cNvSpPr/>
          <p:nvPr/>
        </p:nvSpPr>
        <p:spPr>
          <a:xfrm>
            <a:off x="704088" y="3099816"/>
            <a:ext cx="10762488" cy="0"/>
          </a:xfrm>
          <a:prstGeom prst="line">
            <a:avLst/>
          </a:prstGeom>
          <a:noFill/>
          <a:ln w="7620">
            <a:solidFill>
              <a:srgbClr val="D7D2C8"/>
            </a:solidFill>
            <a:prstDash val="solid"/>
          </a:ln>
        </p:spPr>
      </p:sp>
      <p:sp>
        <p:nvSpPr>
          <p:cNvPr id="9" name="Text 6"/>
          <p:cNvSpPr/>
          <p:nvPr/>
        </p:nvSpPr>
        <p:spPr>
          <a:xfrm>
            <a:off x="704088" y="3218688"/>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REVISION</a:t>
            </a:r>
            <a:endParaRPr lang="en-US" sz="1100" dirty="0"/>
          </a:p>
        </p:txBody>
      </p:sp>
      <p:sp>
        <p:nvSpPr>
          <p:cNvPr id="10" name="Text 7"/>
          <p:cNvSpPr/>
          <p:nvPr/>
        </p:nvSpPr>
        <p:spPr>
          <a:xfrm>
            <a:off x="2743200" y="3200400"/>
            <a:ext cx="8714232" cy="365760"/>
          </a:xfrm>
          <a:prstGeom prst="rect">
            <a:avLst/>
          </a:prstGeom>
          <a:noFill/>
          <a:ln/>
        </p:spPr>
        <p:txBody>
          <a:bodyPr wrap="square" lIns="0" tIns="0" rIns="0" bIns="0" rtlCol="0" anchor="ctr"/>
          <a:lstStyle/>
          <a:p>
            <a:pPr indent="0" marL="0">
              <a:buNone/>
            </a:pPr>
            <a:r>
              <a:rPr lang="en-US" sz="1600" dirty="0">
                <a:solidFill>
                  <a:srgbClr val="1D1D1B"/>
                </a:solidFill>
              </a:rPr>
              <a:t>Exact UI/source commit recorded in capture-manifest.json</a:t>
            </a:r>
            <a:endParaRPr lang="en-US" sz="1600" dirty="0"/>
          </a:p>
        </p:txBody>
      </p:sp>
      <p:sp>
        <p:nvSpPr>
          <p:cNvPr id="11" name="Shape 8"/>
          <p:cNvSpPr/>
          <p:nvPr/>
        </p:nvSpPr>
        <p:spPr>
          <a:xfrm>
            <a:off x="704088" y="3666744"/>
            <a:ext cx="10762488" cy="0"/>
          </a:xfrm>
          <a:prstGeom prst="line">
            <a:avLst/>
          </a:prstGeom>
          <a:noFill/>
          <a:ln w="7620">
            <a:solidFill>
              <a:srgbClr val="D7D2C8"/>
            </a:solidFill>
            <a:prstDash val="solid"/>
          </a:ln>
        </p:spPr>
      </p:sp>
      <p:sp>
        <p:nvSpPr>
          <p:cNvPr id="12" name="Text 9"/>
          <p:cNvSpPr/>
          <p:nvPr/>
        </p:nvSpPr>
        <p:spPr>
          <a:xfrm>
            <a:off x="704088" y="3785616"/>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COMMAND</a:t>
            </a:r>
            <a:endParaRPr lang="en-US" sz="1100" dirty="0"/>
          </a:p>
        </p:txBody>
      </p:sp>
      <p:sp>
        <p:nvSpPr>
          <p:cNvPr id="13" name="Text 10"/>
          <p:cNvSpPr/>
          <p:nvPr/>
        </p:nvSpPr>
        <p:spPr>
          <a:xfrm>
            <a:off x="2743200" y="3767328"/>
            <a:ext cx="8714232" cy="365760"/>
          </a:xfrm>
          <a:prstGeom prst="rect">
            <a:avLst/>
          </a:prstGeom>
          <a:noFill/>
          <a:ln/>
        </p:spPr>
        <p:txBody>
          <a:bodyPr wrap="square" lIns="0" tIns="0" rIns="0" bIns="0" rtlCol="0" anchor="ctr"/>
          <a:lstStyle/>
          <a:p>
            <a:pPr indent="0" marL="0">
              <a:buNone/>
            </a:pPr>
            <a:r>
              <a:rPr lang="en-US" sz="1600" dirty="0">
                <a:solidFill>
                  <a:srgbClr val="1D1D1B"/>
                </a:solidFill>
              </a:rPr>
              <a:t>node --check agent/yeaft/session.js · recorded exit result</a:t>
            </a:r>
            <a:endParaRPr lang="en-US" sz="1600" dirty="0"/>
          </a:p>
        </p:txBody>
      </p:sp>
      <p:sp>
        <p:nvSpPr>
          <p:cNvPr id="14" name="Shape 11"/>
          <p:cNvSpPr/>
          <p:nvPr/>
        </p:nvSpPr>
        <p:spPr>
          <a:xfrm>
            <a:off x="704088" y="4233672"/>
            <a:ext cx="10762488" cy="0"/>
          </a:xfrm>
          <a:prstGeom prst="line">
            <a:avLst/>
          </a:prstGeom>
          <a:noFill/>
          <a:ln w="7620">
            <a:solidFill>
              <a:srgbClr val="D7D2C8"/>
            </a:solidFill>
            <a:prstDash val="solid"/>
          </a:ln>
        </p:spPr>
      </p:sp>
      <p:sp>
        <p:nvSpPr>
          <p:cNvPr id="15" name="Text 12"/>
          <p:cNvSpPr/>
          <p:nvPr/>
        </p:nvSpPr>
        <p:spPr>
          <a:xfrm>
            <a:off x="704088" y="4352544"/>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REVIEW</a:t>
            </a:r>
            <a:endParaRPr lang="en-US" sz="1100" dirty="0"/>
          </a:p>
        </p:txBody>
      </p:sp>
      <p:sp>
        <p:nvSpPr>
          <p:cNvPr id="16" name="Text 13"/>
          <p:cNvSpPr/>
          <p:nvPr/>
        </p:nvSpPr>
        <p:spPr>
          <a:xfrm>
            <a:off x="2743200" y="4334256"/>
            <a:ext cx="8714232" cy="365760"/>
          </a:xfrm>
          <a:prstGeom prst="rect">
            <a:avLst/>
          </a:prstGeom>
          <a:noFill/>
          <a:ln/>
        </p:spPr>
        <p:txBody>
          <a:bodyPr wrap="square" lIns="0" tIns="0" rIns="0" bIns="0" rtlCol="0" anchor="ctr"/>
          <a:lstStyle/>
          <a:p>
            <a:pPr indent="0" marL="0">
              <a:buNone/>
            </a:pPr>
            <a:r>
              <a:rPr lang="en-US" sz="1600" dirty="0">
                <a:solidFill>
                  <a:srgbClr val="1D1D1B"/>
                </a:solidFill>
              </a:rPr>
              <a:t>Demo reviewer challenges scope · not a real PR approval</a:t>
            </a:r>
            <a:endParaRPr lang="en-US" sz="1600" dirty="0"/>
          </a:p>
        </p:txBody>
      </p:sp>
      <p:sp>
        <p:nvSpPr>
          <p:cNvPr id="17" name="Shape 14"/>
          <p:cNvSpPr/>
          <p:nvPr/>
        </p:nvSpPr>
        <p:spPr>
          <a:xfrm>
            <a:off x="704088" y="4800600"/>
            <a:ext cx="10762488" cy="0"/>
          </a:xfrm>
          <a:prstGeom prst="line">
            <a:avLst/>
          </a:prstGeom>
          <a:noFill/>
          <a:ln w="7620">
            <a:solidFill>
              <a:srgbClr val="D7D2C8"/>
            </a:solidFill>
            <a:prstDash val="solid"/>
          </a:ln>
        </p:spPr>
      </p:sp>
      <p:sp>
        <p:nvSpPr>
          <p:cNvPr id="18" name="Text 15"/>
          <p:cNvSpPr/>
          <p:nvPr/>
        </p:nvSpPr>
        <p:spPr>
          <a:xfrm>
            <a:off x="704088" y="4919472"/>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ACCEPTANCE</a:t>
            </a:r>
            <a:endParaRPr lang="en-US" sz="1100" dirty="0"/>
          </a:p>
        </p:txBody>
      </p:sp>
      <p:sp>
        <p:nvSpPr>
          <p:cNvPr id="19" name="Text 16"/>
          <p:cNvSpPr/>
          <p:nvPr/>
        </p:nvSpPr>
        <p:spPr>
          <a:xfrm>
            <a:off x="2743200" y="4901184"/>
            <a:ext cx="8714232" cy="365760"/>
          </a:xfrm>
          <a:prstGeom prst="rect">
            <a:avLst/>
          </a:prstGeom>
          <a:noFill/>
          <a:ln/>
        </p:spPr>
        <p:txBody>
          <a:bodyPr wrap="square" lIns="0" tIns="0" rIns="0" bIns="0" rtlCol="0" anchor="ctr"/>
          <a:lstStyle/>
          <a:p>
            <a:pPr indent="0" marL="0">
              <a:buNone/>
            </a:pPr>
            <a:r>
              <a:rPr lang="en-US" sz="1600" dirty="0">
                <a:solidFill>
                  <a:srgbClr val="1D1D1B"/>
                </a:solidFill>
              </a:rPr>
              <a:t>Syntax check only · startup behavior remains untested</a:t>
            </a:r>
            <a:endParaRPr lang="en-US" sz="1600" dirty="0"/>
          </a:p>
        </p:txBody>
      </p:sp>
      <p:sp>
        <p:nvSpPr>
          <p:cNvPr id="20" name="Shape 17"/>
          <p:cNvSpPr/>
          <p:nvPr/>
        </p:nvSpPr>
        <p:spPr>
          <a:xfrm>
            <a:off x="704088" y="5367528"/>
            <a:ext cx="10762488" cy="0"/>
          </a:xfrm>
          <a:prstGeom prst="line">
            <a:avLst/>
          </a:prstGeom>
          <a:noFill/>
          <a:ln w="7620">
            <a:solidFill>
              <a:srgbClr val="D7D2C8"/>
            </a:solidFill>
            <a:prstDash val="solid"/>
          </a:ln>
        </p:spPr>
      </p:sp>
      <p:sp>
        <p:nvSpPr>
          <p:cNvPr id="21" name="Text 18"/>
          <p:cNvSpPr/>
          <p:nvPr/>
        </p:nvSpPr>
        <p:spPr>
          <a:xfrm>
            <a:off x="704088" y="5486400"/>
            <a:ext cx="2011680" cy="292608"/>
          </a:xfrm>
          <a:prstGeom prst="rect">
            <a:avLst/>
          </a:prstGeom>
          <a:noFill/>
          <a:ln/>
        </p:spPr>
        <p:txBody>
          <a:bodyPr wrap="square" lIns="0" tIns="0" rIns="0" bIns="0" rtlCol="0" anchor="ctr"/>
          <a:lstStyle/>
          <a:p>
            <a:pPr indent="0" marL="0">
              <a:buNone/>
            </a:pPr>
            <a:r>
              <a:rPr lang="en-US" sz="1100" b="1" dirty="0">
                <a:solidFill>
                  <a:srgbClr val="8B5E3C"/>
                </a:solidFill>
              </a:rPr>
              <a:t>RISK / NEXT STEP</a:t>
            </a:r>
            <a:endParaRPr lang="en-US" sz="1100" dirty="0"/>
          </a:p>
        </p:txBody>
      </p:sp>
      <p:sp>
        <p:nvSpPr>
          <p:cNvPr id="22" name="Text 19"/>
          <p:cNvSpPr/>
          <p:nvPr/>
        </p:nvSpPr>
        <p:spPr>
          <a:xfrm>
            <a:off x="2743200" y="5468112"/>
            <a:ext cx="8714232" cy="365760"/>
          </a:xfrm>
          <a:prstGeom prst="rect">
            <a:avLst/>
          </a:prstGeom>
          <a:noFill/>
          <a:ln/>
        </p:spPr>
        <p:txBody>
          <a:bodyPr wrap="square" lIns="0" tIns="0" rIns="0" bIns="0" rtlCol="0" anchor="ctr"/>
          <a:lstStyle/>
          <a:p>
            <a:pPr indent="0" marL="0">
              <a:buNone/>
            </a:pPr>
            <a:r>
              <a:rPr lang="en-US" sz="1600" dirty="0">
                <a:solidFill>
                  <a:srgbClr val="1D1D1B"/>
                </a:solidFill>
              </a:rPr>
              <a:t>No runtime claim · add a startup test before changing behavior</a:t>
            </a:r>
            <a:endParaRPr lang="en-US" sz="1600" dirty="0"/>
          </a:p>
        </p:txBody>
      </p:sp>
      <p:sp>
        <p:nvSpPr>
          <p:cNvPr id="23" name="Text 20"/>
          <p:cNvSpPr/>
          <p:nvPr/>
        </p:nvSpPr>
        <p:spPr>
          <a:xfrm>
            <a:off x="704088" y="6428232"/>
            <a:ext cx="10149840" cy="256032"/>
          </a:xfrm>
          <a:prstGeom prst="rect">
            <a:avLst/>
          </a:prstGeom>
          <a:noFill/>
          <a:ln/>
        </p:spPr>
        <p:txBody>
          <a:bodyPr wrap="square" lIns="0" tIns="0" rIns="0" bIns="0" rtlCol="0" anchor="ctr"/>
          <a:lstStyle/>
          <a:p>
            <a:pPr indent="0" marL="0">
              <a:buNone/>
            </a:pPr>
            <a:r>
              <a:rPr lang="en-US" sz="1000" dirty="0">
                <a:solidFill>
                  <a:srgbClr val="686761"/>
                </a:solidFill>
              </a:rPr>
              <a:t>Staged walkthrough · Actual presentation validation is documented separately</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21792" y="749808"/>
            <a:ext cx="10881360" cy="219456"/>
          </a:xfrm>
          <a:prstGeom prst="rect">
            <a:avLst/>
          </a:prstGeom>
          <a:noFill/>
          <a:ln/>
        </p:spPr>
        <p:txBody>
          <a:bodyPr wrap="square" lIns="0" tIns="0" rIns="0" bIns="0" rtlCol="0" anchor="ctr"/>
          <a:lstStyle/>
          <a:p>
            <a:pPr indent="0" marL="0">
              <a:buNone/>
            </a:pPr>
            <a:r>
              <a:rPr lang="en-US" sz="1100" b="1" spc="110" kern="0" dirty="0">
                <a:solidFill>
                  <a:srgbClr val="8B5E3C"/>
                </a:solidFill>
              </a:rPr>
              <a:t>TRY IT WITH A SMALL, BOUNDED TASK</a:t>
            </a:r>
            <a:endParaRPr lang="en-US" sz="1100" dirty="0"/>
          </a:p>
        </p:txBody>
      </p:sp>
      <p:sp>
        <p:nvSpPr>
          <p:cNvPr id="4" name="Text 1"/>
          <p:cNvSpPr/>
          <p:nvPr/>
        </p:nvSpPr>
        <p:spPr>
          <a:xfrm>
            <a:off x="621792" y="1124712"/>
            <a:ext cx="10927080" cy="694944"/>
          </a:xfrm>
          <a:prstGeom prst="rect">
            <a:avLst/>
          </a:prstGeom>
          <a:noFill/>
          <a:ln/>
        </p:spPr>
        <p:txBody>
          <a:bodyPr wrap="square" lIns="0" tIns="0" rIns="0" bIns="0" rtlCol="0" anchor="ctr"/>
          <a:lstStyle/>
          <a:p>
            <a:pPr indent="0" marL="0">
              <a:buNone/>
            </a:pPr>
            <a:r>
              <a:rPr lang="en-US" sz="3000" b="1" dirty="0">
                <a:solidFill>
                  <a:srgbClr val="1D1D1B"/>
                </a:solidFill>
              </a:rPr>
              <a:t>Bring one question. Leave with something you can check.</a:t>
            </a:r>
            <a:endParaRPr lang="en-US" sz="3000" dirty="0"/>
          </a:p>
        </p:txBody>
      </p:sp>
      <p:sp>
        <p:nvSpPr>
          <p:cNvPr id="5" name="Text 2"/>
          <p:cNvSpPr/>
          <p:nvPr/>
        </p:nvSpPr>
        <p:spPr>
          <a:xfrm>
            <a:off x="713232" y="2761488"/>
            <a:ext cx="3200400" cy="228600"/>
          </a:xfrm>
          <a:prstGeom prst="rect">
            <a:avLst/>
          </a:prstGeom>
          <a:noFill/>
          <a:ln/>
        </p:spPr>
        <p:txBody>
          <a:bodyPr wrap="square" lIns="0" tIns="0" rIns="0" bIns="0" rtlCol="0" anchor="ctr"/>
          <a:lstStyle/>
          <a:p>
            <a:pPr indent="0" marL="0">
              <a:buNone/>
            </a:pPr>
            <a:r>
              <a:rPr lang="en-US" sz="1200" b="1" dirty="0">
                <a:solidFill>
                  <a:srgbClr val="8B5E3C"/>
                </a:solidFill>
              </a:rPr>
              <a:t>01</a:t>
            </a:r>
            <a:endParaRPr lang="en-US" sz="1200" dirty="0"/>
          </a:p>
        </p:txBody>
      </p:sp>
      <p:sp>
        <p:nvSpPr>
          <p:cNvPr id="6" name="Text 3"/>
          <p:cNvSpPr/>
          <p:nvPr/>
        </p:nvSpPr>
        <p:spPr>
          <a:xfrm>
            <a:off x="713232" y="3200400"/>
            <a:ext cx="3200400" cy="457200"/>
          </a:xfrm>
          <a:prstGeom prst="rect">
            <a:avLst/>
          </a:prstGeom>
          <a:noFill/>
          <a:ln/>
        </p:spPr>
        <p:txBody>
          <a:bodyPr wrap="square" lIns="0" tIns="0" rIns="0" bIns="0" rtlCol="0" anchor="ctr"/>
          <a:lstStyle/>
          <a:p>
            <a:pPr indent="0" marL="0">
              <a:buNone/>
            </a:pPr>
            <a:r>
              <a:rPr lang="en-US" sz="2200" b="1" dirty="0">
                <a:solidFill>
                  <a:srgbClr val="1D1D1B"/>
                </a:solidFill>
              </a:rPr>
              <a:t>Connect an Agent.</a:t>
            </a:r>
            <a:endParaRPr lang="en-US" sz="2200" dirty="0"/>
          </a:p>
        </p:txBody>
      </p:sp>
      <p:sp>
        <p:nvSpPr>
          <p:cNvPr id="7" name="Text 4"/>
          <p:cNvSpPr/>
          <p:nvPr/>
        </p:nvSpPr>
        <p:spPr>
          <a:xfrm>
            <a:off x="713232" y="3813048"/>
            <a:ext cx="3200400" cy="1234440"/>
          </a:xfrm>
          <a:prstGeom prst="rect">
            <a:avLst/>
          </a:prstGeom>
          <a:noFill/>
          <a:ln/>
        </p:spPr>
        <p:txBody>
          <a:bodyPr wrap="square" lIns="0" tIns="0" rIns="0" bIns="0" rtlCol="0" anchor="t"/>
          <a:lstStyle/>
          <a:p>
            <a:pPr indent="0" marL="0">
              <a:buNone/>
            </a:pPr>
            <a:r>
              <a:rPr lang="en-US" sz="1700" dirty="0">
                <a:solidFill>
                  <a:srgbClr val="686761"/>
                </a:solidFill>
              </a:rPr>
              <a:t>Follow the setup guide for your local environment.</a:t>
            </a:r>
            <a:endParaRPr lang="en-US" sz="1700" dirty="0"/>
          </a:p>
        </p:txBody>
      </p:sp>
      <p:sp>
        <p:nvSpPr>
          <p:cNvPr id="8" name="Text 5"/>
          <p:cNvSpPr/>
          <p:nvPr/>
        </p:nvSpPr>
        <p:spPr>
          <a:xfrm>
            <a:off x="4480560" y="2761488"/>
            <a:ext cx="3200400" cy="228600"/>
          </a:xfrm>
          <a:prstGeom prst="rect">
            <a:avLst/>
          </a:prstGeom>
          <a:noFill/>
          <a:ln/>
        </p:spPr>
        <p:txBody>
          <a:bodyPr wrap="square" lIns="0" tIns="0" rIns="0" bIns="0" rtlCol="0" anchor="ctr"/>
          <a:lstStyle/>
          <a:p>
            <a:pPr indent="0" marL="0">
              <a:buNone/>
            </a:pPr>
            <a:r>
              <a:rPr lang="en-US" sz="1200" b="1" dirty="0">
                <a:solidFill>
                  <a:srgbClr val="8B5E3C"/>
                </a:solidFill>
              </a:rPr>
              <a:t>02</a:t>
            </a:r>
            <a:endParaRPr lang="en-US" sz="1200" dirty="0"/>
          </a:p>
        </p:txBody>
      </p:sp>
      <p:sp>
        <p:nvSpPr>
          <p:cNvPr id="9" name="Text 6"/>
          <p:cNvSpPr/>
          <p:nvPr/>
        </p:nvSpPr>
        <p:spPr>
          <a:xfrm>
            <a:off x="4480560" y="3200400"/>
            <a:ext cx="3200400" cy="457200"/>
          </a:xfrm>
          <a:prstGeom prst="rect">
            <a:avLst/>
          </a:prstGeom>
          <a:noFill/>
          <a:ln/>
        </p:spPr>
        <p:txBody>
          <a:bodyPr wrap="square" lIns="0" tIns="0" rIns="0" bIns="0" rtlCol="0" anchor="ctr"/>
          <a:lstStyle/>
          <a:p>
            <a:pPr indent="0" marL="0">
              <a:buNone/>
            </a:pPr>
            <a:r>
              <a:rPr lang="en-US" sz="2200" b="1" dirty="0">
                <a:solidFill>
                  <a:srgbClr val="1D1D1B"/>
                </a:solidFill>
              </a:rPr>
              <a:t>Open a Session.</a:t>
            </a:r>
            <a:endParaRPr lang="en-US" sz="2200" dirty="0"/>
          </a:p>
        </p:txBody>
      </p:sp>
      <p:sp>
        <p:nvSpPr>
          <p:cNvPr id="10" name="Text 7"/>
          <p:cNvSpPr/>
          <p:nvPr/>
        </p:nvSpPr>
        <p:spPr>
          <a:xfrm>
            <a:off x="4480560" y="3813048"/>
            <a:ext cx="3200400" cy="1234440"/>
          </a:xfrm>
          <a:prstGeom prst="rect">
            <a:avLst/>
          </a:prstGeom>
          <a:noFill/>
          <a:ln/>
        </p:spPr>
        <p:txBody>
          <a:bodyPr wrap="square" lIns="0" tIns="0" rIns="0" bIns="0" rtlCol="0" anchor="t"/>
          <a:lstStyle/>
          <a:p>
            <a:pPr indent="0" marL="0">
              <a:buNone/>
            </a:pPr>
            <a:r>
              <a:rPr lang="en-US" sz="1700" dirty="0">
                <a:solidFill>
                  <a:srgbClr val="686761"/>
                </a:solidFill>
              </a:rPr>
              <a:t>Ask a concrete question about one file or behavior.</a:t>
            </a:r>
            <a:endParaRPr lang="en-US" sz="1700" dirty="0"/>
          </a:p>
        </p:txBody>
      </p:sp>
      <p:sp>
        <p:nvSpPr>
          <p:cNvPr id="11" name="Text 8"/>
          <p:cNvSpPr/>
          <p:nvPr/>
        </p:nvSpPr>
        <p:spPr>
          <a:xfrm>
            <a:off x="8238744" y="2761488"/>
            <a:ext cx="3200400" cy="228600"/>
          </a:xfrm>
          <a:prstGeom prst="rect">
            <a:avLst/>
          </a:prstGeom>
          <a:noFill/>
          <a:ln/>
        </p:spPr>
        <p:txBody>
          <a:bodyPr wrap="square" lIns="0" tIns="0" rIns="0" bIns="0" rtlCol="0" anchor="ctr"/>
          <a:lstStyle/>
          <a:p>
            <a:pPr indent="0" marL="0">
              <a:buNone/>
            </a:pPr>
            <a:r>
              <a:rPr lang="en-US" sz="1200" b="1" dirty="0">
                <a:solidFill>
                  <a:srgbClr val="8B5E3C"/>
                </a:solidFill>
              </a:rPr>
              <a:t>03</a:t>
            </a:r>
            <a:endParaRPr lang="en-US" sz="1200" dirty="0"/>
          </a:p>
        </p:txBody>
      </p:sp>
      <p:sp>
        <p:nvSpPr>
          <p:cNvPr id="12" name="Text 9"/>
          <p:cNvSpPr/>
          <p:nvPr/>
        </p:nvSpPr>
        <p:spPr>
          <a:xfrm>
            <a:off x="8238744" y="3200400"/>
            <a:ext cx="3200400" cy="457200"/>
          </a:xfrm>
          <a:prstGeom prst="rect">
            <a:avLst/>
          </a:prstGeom>
          <a:noFill/>
          <a:ln/>
        </p:spPr>
        <p:txBody>
          <a:bodyPr wrap="square" lIns="0" tIns="0" rIns="0" bIns="0" rtlCol="0" anchor="ctr"/>
          <a:lstStyle/>
          <a:p>
            <a:pPr indent="0" marL="0">
              <a:buNone/>
            </a:pPr>
            <a:r>
              <a:rPr lang="en-US" sz="2200" b="1" dirty="0">
                <a:solidFill>
                  <a:srgbClr val="1D1D1B"/>
                </a:solidFill>
              </a:rPr>
              <a:t>Inspect the evidence.</a:t>
            </a:r>
            <a:endParaRPr lang="en-US" sz="2200" dirty="0"/>
          </a:p>
        </p:txBody>
      </p:sp>
      <p:sp>
        <p:nvSpPr>
          <p:cNvPr id="13" name="Text 10"/>
          <p:cNvSpPr/>
          <p:nvPr/>
        </p:nvSpPr>
        <p:spPr>
          <a:xfrm>
            <a:off x="8238744" y="3813048"/>
            <a:ext cx="3200400" cy="1234440"/>
          </a:xfrm>
          <a:prstGeom prst="rect">
            <a:avLst/>
          </a:prstGeom>
          <a:noFill/>
          <a:ln/>
        </p:spPr>
        <p:txBody>
          <a:bodyPr wrap="square" lIns="0" tIns="0" rIns="0" bIns="0" rtlCol="0" anchor="t"/>
          <a:lstStyle/>
          <a:p>
            <a:pPr indent="0" marL="0">
              <a:buNone/>
            </a:pPr>
            <a:r>
              <a:rPr lang="en-US" sz="1700" dirty="0">
                <a:solidFill>
                  <a:srgbClr val="686761"/>
                </a:solidFill>
              </a:rPr>
              <a:t>Read the source, command result, and remaining limitations.</a:t>
            </a:r>
            <a:endParaRPr lang="en-US" sz="1700" dirty="0"/>
          </a:p>
        </p:txBody>
      </p:sp>
      <p:sp>
        <p:nvSpPr>
          <p:cNvPr id="14" name="Shape 11"/>
          <p:cNvSpPr/>
          <p:nvPr/>
        </p:nvSpPr>
        <p:spPr>
          <a:xfrm>
            <a:off x="713232" y="5486400"/>
            <a:ext cx="10698480" cy="0"/>
          </a:xfrm>
          <a:prstGeom prst="line">
            <a:avLst/>
          </a:prstGeom>
          <a:noFill/>
          <a:ln w="19050">
            <a:solidFill>
              <a:srgbClr val="8B5E3C"/>
            </a:solidFill>
            <a:prstDash val="solid"/>
          </a:ln>
        </p:spPr>
      </p:sp>
      <p:sp>
        <p:nvSpPr>
          <p:cNvPr id="15" name="Text 12">
            <a:hlinkClick r:id="rId1" tooltip=""/>
          </p:cNvPr>
          <p:cNvSpPr/>
          <p:nvPr/>
        </p:nvSpPr>
        <p:spPr>
          <a:xfrm>
            <a:off x="713232" y="5806440"/>
            <a:ext cx="10698480" cy="411480"/>
          </a:xfrm>
          <a:prstGeom prst="rect">
            <a:avLst/>
          </a:prstGeom>
          <a:noFill/>
          <a:ln/>
        </p:spPr>
        <p:txBody>
          <a:bodyPr wrap="square" lIns="0" tIns="0" rIns="0" bIns="0" rtlCol="0" anchor="ctr"/>
          <a:lstStyle/>
          <a:p>
            <a:pPr indent="0" marL="0">
              <a:buNone/>
            </a:pPr>
            <a:r>
              <a:rPr lang="en-US" sz="2100" b="1" u="sng" dirty="0">
                <a:solidFill>
                  <a:srgbClr val="8B5E3C"/>
                </a:solidFill>
                <a:hlinkClick r:id="rId1" invalidUrl="" action="" tgtFrame="" tooltip="" history="1" highlightClick="0" endSnd="0">
                  <a:extLst>
                    <a:ext uri="{A12FA001-AC4F-418D-AE19-62706E023703}">
                      <ahyp:hlinkClr xmlns:ahyp="http://schemas.microsoft.com/office/drawing/2018/hyperlinkcolor" val="tx"/>
                    </a:ext>
                  </a:extLst>
                </a:hlinkClick>
              </a:rPr>
              <a:t>Start here → github.com/yeaft/yeaft-web-code-agent</a:t>
            </a:r>
            <a:endParaRPr lang="en-US" sz="21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Yeaft — From request to evidence</dc:title>
  <dc:subject>From a request to an inspectable engineering result</dc:subject>
  <dc:creator>Yeaft</dc:creator>
  <cp:lastModifiedBy>Yeaft</cp:lastModifiedBy>
  <cp:revision>1</cp:revision>
  <dcterms:created xsi:type="dcterms:W3CDTF">2026-09-07T03:03:27Z</dcterms:created>
  <dcterms:modified xsi:type="dcterms:W3CDTF">2026-09-07T03:03:27Z</dcterms:modified>
</cp:coreProperties>
</file>