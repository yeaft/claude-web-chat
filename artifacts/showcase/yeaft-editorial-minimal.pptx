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NIMAL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5603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10" kern="0" dirty="0">
                <a:solidFill>
                  <a:srgbClr val="1D1D1B"/>
                </a:solidFill>
              </a:rPr>
              <a:t>YEAFT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12064" y="521208"/>
            <a:ext cx="11155680" cy="0"/>
          </a:xfrm>
          <a:prstGeom prst="line">
            <a:avLst/>
          </a:prstGeom>
          <a:noFill/>
          <a:ln w="8890">
            <a:solidFill>
              <a:srgbClr val="D7D2C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93268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PRODUCT OVERVIEW · 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03504" y="1353312"/>
            <a:ext cx="45720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The AI engineering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workstation.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21792" y="290779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6761"/>
                </a:solidFill>
              </a:rPr>
              <a:t>One continuous environment for conversation, specialist collaboration, development tools, review, and durable execution.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21792" y="4160520"/>
            <a:ext cx="292608" cy="0"/>
          </a:xfrm>
          <a:prstGeom prst="line">
            <a:avLst/>
          </a:prstGeom>
          <a:noFill/>
          <a:ln w="17780">
            <a:solidFill>
              <a:srgbClr val="8B5E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41102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686761"/>
                </a:solidFill>
              </a:rPr>
              <a:t>ONE TASK · ONE TEAM · ONE FLOW</a:t>
            </a:r>
            <a:endParaRPr lang="en-US" sz="700" dirty="0"/>
          </a:p>
        </p:txBody>
      </p:sp>
      <p:pic>
        <p:nvPicPr>
          <p:cNvPr id="7" name="Image 0" descr="/home/azureuser/projects/yeaft-web-code-agent/.yeaft/worktrees/showcase-editorial-ppt/artifacts/showcase/assets/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663922"/>
            <a:ext cx="6080760" cy="34204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1663922"/>
            <a:ext cx="6080760" cy="3420428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0352" y="6473952"/>
            <a:ext cx="7772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96938B"/>
                </a:solidFill>
              </a:rPr>
              <a:t>Real Yeaft Web UI · Staged demonstration data</a:t>
            </a:r>
            <a:endParaRPr lang="en-US" sz="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AI can answer quickly. Engineering still breaks between the answers.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The real cost appears in handoffs, missing context, unverifiable claims, and work that stops when a chat turn ends.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Context fragments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410712"/>
            <a:ext cx="22402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Work is reconstructed across devices, chats, terminals, and review tools.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56432" y="26060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456432" y="29535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Ownership blurs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56432" y="3410712"/>
            <a:ext cx="22402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It becomes unclear who implemented, who reviewed, and what happens next.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72784" y="26060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272784" y="29535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Evidence disappears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72784" y="3410712"/>
            <a:ext cx="22402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The answer survives; the exact files, commands, diffs, and outcomes do not.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9136" y="26060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089136" y="29535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Momentum resets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089136" y="3410712"/>
            <a:ext cx="22402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Longer goals lose durable state, attempts, dependencies, and acceptance checks.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5175504"/>
            <a:ext cx="10625328" cy="0"/>
          </a:xfrm>
          <a:prstGeom prst="line">
            <a:avLst/>
          </a:prstGeom>
          <a:noFill/>
          <a:ln w="12700">
            <a:solidFill>
              <a:srgbClr val="D7D2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46811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The missing product is continuity.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THE YEAFT IDEA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Keep one task identity while the work changes form.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Devices, specialists, tools, and timescales can change without breaking the engineering story.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960120" y="3657600"/>
            <a:ext cx="9738360" cy="0"/>
          </a:xfrm>
          <a:prstGeom prst="line">
            <a:avLst/>
          </a:prstGeom>
          <a:noFill/>
          <a:ln w="16510">
            <a:solidFill>
              <a:srgbClr val="D7D2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" y="3547872"/>
            <a:ext cx="219456" cy="219456"/>
          </a:xfrm>
          <a:prstGeom prst="rect">
            <a:avLst/>
          </a:prstGeom>
          <a:solidFill>
            <a:srgbClr val="8B5E3C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Respond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from anywhere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3355848" y="3547872"/>
            <a:ext cx="219456" cy="219456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18104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02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926080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Assign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the right specialist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5623560" y="3547872"/>
            <a:ext cx="219456" cy="219456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5816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03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193792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Build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93792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in the workspace</a:t>
            </a:r>
            <a:endParaRPr lang="en-US" sz="870" dirty="0"/>
          </a:p>
        </p:txBody>
      </p:sp>
      <p:sp>
        <p:nvSpPr>
          <p:cNvPr id="18" name="Shape 16"/>
          <p:cNvSpPr/>
          <p:nvPr/>
        </p:nvSpPr>
        <p:spPr>
          <a:xfrm>
            <a:off x="7891272" y="3547872"/>
            <a:ext cx="219456" cy="219456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53528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04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7461504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61504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independently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10158984" y="3547872"/>
            <a:ext cx="219456" cy="219456"/>
          </a:xfrm>
          <a:prstGeom prst="rect">
            <a:avLst/>
          </a:prstGeom>
          <a:solidFill>
            <a:srgbClr val="8B5E3C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21240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05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9729216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Continue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729216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until accepted</a:t>
            </a:r>
            <a:endParaRPr lang="en-US" sz="870" dirty="0"/>
          </a:p>
        </p:txBody>
      </p:sp>
      <p:sp>
        <p:nvSpPr>
          <p:cNvPr id="26" name="Shape 24"/>
          <p:cNvSpPr/>
          <p:nvPr/>
        </p:nvSpPr>
        <p:spPr>
          <a:xfrm>
            <a:off x="4791456" y="5413248"/>
            <a:ext cx="292608" cy="0"/>
          </a:xfrm>
          <a:prstGeom prst="line">
            <a:avLst/>
          </a:prstGeom>
          <a:noFill/>
          <a:ln w="17780">
            <a:solidFill>
              <a:srgbClr val="8B5E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02936" y="5362956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686761"/>
                </a:solidFill>
              </a:rPr>
              <a:t>ONE SHARED CONTEXT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93268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01 · ACCESS ANYWHERE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03504" y="1389888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Leave the desk.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Keep the context.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21792" y="2734056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86761"/>
                </a:solidFill>
              </a:rPr>
              <a:t>Open the same Session from another device. Inspect progress, answer a blocker, and provide the next instruction without rebuilding the task.</a:t>
            </a:r>
            <a:endParaRPr lang="en-US" sz="1120" dirty="0"/>
          </a:p>
        </p:txBody>
      </p:sp>
      <p:sp>
        <p:nvSpPr>
          <p:cNvPr id="5" name="Text 3"/>
          <p:cNvSpPr/>
          <p:nvPr/>
        </p:nvSpPr>
        <p:spPr>
          <a:xfrm>
            <a:off x="621792" y="4251960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01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78992" y="421538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Same Session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4727448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Same project context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5202936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03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078992" y="5166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Same connected Agent</a:t>
            </a:r>
            <a:endParaRPr lang="en-US" sz="1100" dirty="0"/>
          </a:p>
        </p:txBody>
      </p:sp>
      <p:pic>
        <p:nvPicPr>
          <p:cNvPr id="11" name="Image 0" descr="/home/azureuser/projects/yeaft-web-code-agent/.yeaft/worktrees/showcase-editorial-ppt/artifacts/showcase/assets/04-session-conver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4077" y="896112"/>
            <a:ext cx="6120150" cy="51663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014077" y="896112"/>
            <a:ext cx="6120150" cy="516636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02 · SHARED SESSION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One conversation. One goal. A visible team.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The Session is the collaboration boundary—not another disconnected chat mode.</a:t>
            </a:r>
            <a:endParaRPr lang="en-US" sz="1050" dirty="0"/>
          </a:p>
        </p:txBody>
      </p:sp>
      <p:pic>
        <p:nvPicPr>
          <p:cNvPr id="5" name="Image 0" descr="/home/azureuser/projects/yeaft-web-code-agent/.yeaft/worktrees/showcase-editorial-ppt/artifacts/showcase/assets/05-session-ro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0609" y="2487168"/>
            <a:ext cx="2531766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670609" y="2487168"/>
            <a:ext cx="2531766" cy="347472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26680" y="2578608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80" kern="0" dirty="0">
                <a:solidFill>
                  <a:srgbClr val="8B5E3C"/>
                </a:solidFill>
              </a:rPr>
              <a:t>CONVERSATION</a:t>
            </a:r>
            <a:endParaRPr lang="en-US" sz="730" dirty="0"/>
          </a:p>
        </p:txBody>
      </p:sp>
      <p:sp>
        <p:nvSpPr>
          <p:cNvPr id="8" name="Text 5"/>
          <p:cNvSpPr/>
          <p:nvPr/>
        </p:nvSpPr>
        <p:spPr>
          <a:xfrm>
            <a:off x="8988552" y="2551176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A continuous narrative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3017520"/>
            <a:ext cx="3456432" cy="0"/>
          </a:xfrm>
          <a:prstGeom prst="line">
            <a:avLst/>
          </a:prstGeom>
          <a:noFill/>
          <a:ln w="8890">
            <a:solidFill>
              <a:srgbClr val="D7D2C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3401568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80" kern="0" dirty="0">
                <a:solidFill>
                  <a:srgbClr val="8B5E3C"/>
                </a:solidFill>
              </a:rPr>
              <a:t>ROSTER</a:t>
            </a:r>
            <a:endParaRPr lang="en-US" sz="730" dirty="0"/>
          </a:p>
        </p:txBody>
      </p:sp>
      <p:sp>
        <p:nvSpPr>
          <p:cNvPr id="11" name="Text 8"/>
          <p:cNvSpPr/>
          <p:nvPr/>
        </p:nvSpPr>
        <p:spPr>
          <a:xfrm>
            <a:off x="8988552" y="3374136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1..N Virtual Persons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3840480"/>
            <a:ext cx="3456432" cy="0"/>
          </a:xfrm>
          <a:prstGeom prst="line">
            <a:avLst/>
          </a:prstGeom>
          <a:noFill/>
          <a:ln w="8890">
            <a:solidFill>
              <a:srgbClr val="D7D2C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26680" y="4224528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80" kern="0" dirty="0">
                <a:solidFill>
                  <a:srgbClr val="8B5E3C"/>
                </a:solidFill>
              </a:rPr>
              <a:t>CONTEXT</a:t>
            </a:r>
            <a:endParaRPr lang="en-US" sz="730" dirty="0"/>
          </a:p>
        </p:txBody>
      </p:sp>
      <p:sp>
        <p:nvSpPr>
          <p:cNvPr id="14" name="Text 11"/>
          <p:cNvSpPr/>
          <p:nvPr/>
        </p:nvSpPr>
        <p:spPr>
          <a:xfrm>
            <a:off x="8988552" y="4197096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Project stays attached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4663440"/>
            <a:ext cx="3456432" cy="0"/>
          </a:xfrm>
          <a:prstGeom prst="line">
            <a:avLst/>
          </a:prstGeom>
          <a:noFill/>
          <a:ln w="8890">
            <a:solidFill>
              <a:srgbClr val="D7D2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26680" y="5047488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80" kern="0" dirty="0">
                <a:solidFill>
                  <a:srgbClr val="8B5E3C"/>
                </a:solidFill>
              </a:rPr>
              <a:t>OWNERSHIP</a:t>
            </a:r>
            <a:endParaRPr lang="en-US" sz="730" dirty="0"/>
          </a:p>
        </p:txBody>
      </p:sp>
      <p:sp>
        <p:nvSpPr>
          <p:cNvPr id="17" name="Text 14"/>
          <p:cNvSpPr/>
          <p:nvPr/>
        </p:nvSpPr>
        <p:spPr>
          <a:xfrm>
            <a:off x="8988552" y="5020056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Results stay attributable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03 · VIRTUAL PERSONS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Not more chatbots. A separation of duties.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Distinct judgment, skills, and responsibility applied to one shared engineering outcome.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2670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30+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3355848"/>
            <a:ext cx="2286000" cy="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50215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specialized Virtual Persons available to join a Session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74720" y="2670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1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474720" y="3355848"/>
            <a:ext cx="2286000" cy="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350215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shared Session keeps the active goal coherent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63640" y="2670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N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6263640" y="3355848"/>
            <a:ext cx="2286000" cy="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350215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specialists contribute where responsibility is clear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52560" y="2670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✓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052560" y="3355848"/>
            <a:ext cx="2286000" cy="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350215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attributable output preserves accountability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5074920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1D1B"/>
                </a:solidFill>
              </a:rPr>
              <a:t>Specialization matters only when the boundaries are explicit.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COLLABORATION IN PRACTICE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Implementation and review are different jobs.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Explicit routing turns multiple specialists into an accountable team.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68680" y="27432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" y="3090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LINUS · BUILD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547872"/>
            <a:ext cx="2926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Investigate the root cause. Make the smallest correct change. Record concrete verification.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394192" y="27432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394192" y="3090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MARTIN · REVIEW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394192" y="3547872"/>
            <a:ext cx="2926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Check the exact revision, full diff, regression risk, and delivery state independently.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05072" y="3456432"/>
            <a:ext cx="4160520" cy="0"/>
          </a:xfrm>
          <a:prstGeom prst="line">
            <a:avLst/>
          </a:prstGeom>
          <a:noFill/>
          <a:ln w="22860">
            <a:solidFill>
              <a:srgbClr val="8B5E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82128" y="3273552"/>
            <a:ext cx="384048" cy="384048"/>
          </a:xfrm>
          <a:prstGeom prst="chevron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85232" y="2999232"/>
            <a:ext cx="292608" cy="0"/>
          </a:xfrm>
          <a:prstGeom prst="line">
            <a:avLst/>
          </a:prstGeom>
          <a:noFill/>
          <a:ln w="17780">
            <a:solidFill>
              <a:srgbClr val="8B5E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96712" y="2948940"/>
            <a:ext cx="1161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686761"/>
                </a:solidFill>
              </a:rPr>
              <a:t>EXPLICIT HANDOFF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64515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6761"/>
                </a:solidFill>
              </a:rPr>
              <a:t>BLOCKER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56539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APPROVE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11296" y="5010912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86761"/>
                </a:solidFill>
              </a:rPr>
              <a:t>Sender, recipient, reason, exact result, and next responsibility remain visible.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04 · WORKBENCH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Browse the project. Open a terminal. Verify the work.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The engineering environment remains beside the Session instead of disappearing behind an answer.</a:t>
            </a:r>
            <a:endParaRPr lang="en-US" sz="1050" dirty="0"/>
          </a:p>
        </p:txBody>
      </p:sp>
      <p:pic>
        <p:nvPicPr>
          <p:cNvPr id="5" name="Image 0" descr="/home/azureuser/projects/yeaft-web-code-agent/.yeaft/worktrees/showcase-editorial-ppt/artifacts/showcase/assets/08-workbench-files-corr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334006"/>
            <a:ext cx="5376672" cy="33604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2334006"/>
            <a:ext cx="5376672" cy="336042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pic>
        <p:nvPicPr>
          <p:cNvPr id="7" name="Image 1" descr="/home/azureuser/projects/yeaft-web-code-agent/.yeaft/worktrees/showcase-editorial-ppt/artifacts/showcase/assets/08-workbench-terminal-corr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2334006"/>
            <a:ext cx="5376672" cy="33604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90488" y="2334006"/>
            <a:ext cx="5376672" cy="336042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58521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90" kern="0" dirty="0">
                <a:solidFill>
                  <a:srgbClr val="686761"/>
                </a:solidFill>
              </a:rPr>
              <a:t>FILES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1225296" y="58155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6761"/>
                </a:solidFill>
              </a:rPr>
              <a:t>Project tree · open file · code editor</a:t>
            </a:r>
            <a:endParaRPr lang="en-US" sz="880" dirty="0"/>
          </a:p>
        </p:txBody>
      </p:sp>
      <p:sp>
        <p:nvSpPr>
          <p:cNvPr id="11" name="Text 7"/>
          <p:cNvSpPr/>
          <p:nvPr/>
        </p:nvSpPr>
        <p:spPr>
          <a:xfrm>
            <a:off x="6208776" y="585216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90" kern="0" dirty="0">
                <a:solidFill>
                  <a:srgbClr val="686761"/>
                </a:solidFill>
              </a:rPr>
              <a:t>TERMINAL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7150608" y="58155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6761"/>
                </a:solidFill>
              </a:rPr>
              <a:t>Shell prompt · command · verification output</a:t>
            </a: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8412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05 · WORK CENTER · PREVIEW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03504" y="123444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Longer goals need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durable structure.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21792" y="2679192"/>
            <a:ext cx="3611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86761"/>
                </a:solidFill>
              </a:rPr>
              <a:t>Work Center preserves the objective, execution graph, attempts, and acceptance evidence beyond one chat turn.</a:t>
            </a:r>
            <a:endParaRPr lang="en-US" sz="1120" dirty="0"/>
          </a:p>
        </p:txBody>
      </p:sp>
      <p:sp>
        <p:nvSpPr>
          <p:cNvPr id="5" name="Text 3"/>
          <p:cNvSpPr/>
          <p:nvPr/>
        </p:nvSpPr>
        <p:spPr>
          <a:xfrm>
            <a:off x="640080" y="3895344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01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51560" y="387705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D1B"/>
                </a:solidFill>
              </a:rPr>
              <a:t>WORKITEM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57400" y="386791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Goal + acceptance criteria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640080" y="4498848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51560" y="448056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D1B"/>
                </a:solidFill>
              </a:rPr>
              <a:t>ACTION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57400" y="447141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Concrete unit of work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40080" y="5102352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03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51560" y="508406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D1B"/>
                </a:solidFill>
              </a:rPr>
              <a:t>RUN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57400" y="50749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One durable attempt</a:t>
            </a:r>
            <a:endParaRPr lang="en-US" sz="870" dirty="0"/>
          </a:p>
        </p:txBody>
      </p:sp>
      <p:pic>
        <p:nvPicPr>
          <p:cNvPr id="14" name="Image 0" descr="/home/azureuser/projects/yeaft-web-code-agent/.yeaft/worktrees/showcase-editorial-ppt/artifacts/showcase/assets/09-work-center-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194525"/>
            <a:ext cx="6720840" cy="46975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617720" y="1194525"/>
            <a:ext cx="6720840" cy="469755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CONTROLLED AUTONOMY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Keep moving—without hiding how.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Autonomy is useful only when progress, conflicts, failed attempts, and acceptance checks remain inspectable.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58368" y="28163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58368" y="31638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Durable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21024"/>
            <a:ext cx="2212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Status survives beyond one response.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47288" y="28163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447288" y="31638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Dependency-aware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47288" y="3621024"/>
            <a:ext cx="2212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Actions consume real results, not ceremonial phases.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36208" y="28163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236208" y="31638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Conflict-aware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36208" y="3621024"/>
            <a:ext cx="2212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Unsafe workspace writes remain controlled.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25128" y="28163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025128" y="31638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Evidence-gated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025128" y="3621024"/>
            <a:ext cx="2212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Completion requires outcomes and acceptance checks.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968496" y="5230368"/>
            <a:ext cx="4251960" cy="53035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78808" y="5413248"/>
            <a:ext cx="38221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</a:rPr>
              <a:t>PERSISTENT  ≠  UNBOUNDED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A COMPLETE USER STORY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One production issue. Six accountable moments.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The product becomes valuable when the features behave as one continuous engineering experience.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96112" y="3657600"/>
            <a:ext cx="10222992" cy="0"/>
          </a:xfrm>
          <a:prstGeom prst="line">
            <a:avLst/>
          </a:prstGeom>
          <a:noFill/>
          <a:ln w="15240">
            <a:solidFill>
              <a:srgbClr val="D7D2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01</a:t>
            </a:r>
            <a:endParaRPr lang="en-US" sz="680" dirty="0"/>
          </a:p>
        </p:txBody>
      </p:sp>
      <p:sp>
        <p:nvSpPr>
          <p:cNvPr id="8" name="Text 6"/>
          <p:cNvSpPr/>
          <p:nvPr/>
        </p:nvSpPr>
        <p:spPr>
          <a:xfrm>
            <a:off x="566928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Respond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Answer the blocker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2788920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51176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02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2459736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Implement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459736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Change what is necessary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4681728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03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4352544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Review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52544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Check the exact revision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574536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04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6245352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Verify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45352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Expose command and Git evidence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8467344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05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8138160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Continue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138160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Preserve Actions and Runs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10360152" y="3557016"/>
            <a:ext cx="201168" cy="201168"/>
          </a:xfrm>
          <a:prstGeom prst="rect">
            <a:avLst/>
          </a:prstGeom>
          <a:solidFill>
            <a:srgbClr val="8B5E3C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122408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06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0030968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Deliver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030968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Advance on acceptance evidence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2331720" y="5440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The task never loses its identity.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07899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THE OUTCOME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21792" y="1536192"/>
            <a:ext cx="9875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One place to move engineering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from request to verified outcome.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364992"/>
            <a:ext cx="10561320" cy="0"/>
          </a:xfrm>
          <a:prstGeom prst="line">
            <a:avLst/>
          </a:prstGeom>
          <a:noFill/>
          <a:ln w="27940">
            <a:solidFill>
              <a:srgbClr val="8B5E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B5E3C"/>
                </a:solidFill>
              </a:rPr>
              <a:t>ANYWHERE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58368" y="43159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D1D1B"/>
                </a:solidFill>
              </a:rPr>
              <a:t>Resume the same Session without reconstructing context.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0" y="38404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B5E3C"/>
                </a:solidFill>
              </a:rPr>
              <a:t>AS A TEAM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89120" y="43159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D1D1B"/>
                </a:solidFill>
              </a:rPr>
              <a:t>Apply explicit roles and independent judgment.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19872" y="38404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B5E3C"/>
                </a:solidFill>
              </a:rPr>
              <a:t>TO OUTCOME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119872" y="43159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D1D1B"/>
                </a:solidFill>
              </a:rPr>
              <a:t>Connect tools, evidence, and durable execution.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57790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20" kern="0" dirty="0">
                <a:solidFill>
                  <a:srgbClr val="1D1D1B"/>
                </a:solidFill>
              </a:rPr>
              <a:t>YEAFT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" y="6473952"/>
            <a:ext cx="7772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96938B"/>
                </a:solidFill>
              </a:rPr>
              <a:t>Work Center is a Preview capability.</a:t>
            </a:r>
            <a:endParaRPr lang="en-US" sz="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Yeaft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Yeaft — AI Engineering Workstation</dc:title>
  <dc:subject>Yeaft product overview</dc:subject>
  <dc:creator>Yeaft</dc:creator>
  <cp:lastModifiedBy>Yeaft</cp:lastModifiedBy>
  <cp:revision>1</cp:revision>
  <dcterms:created xsi:type="dcterms:W3CDTF">2026-09-03T10:58:35Z</dcterms:created>
  <dcterms:modified xsi:type="dcterms:W3CDTF">2026-09-03T10:58:35Z</dcterms:modified>
</cp:coreProperties>
</file>