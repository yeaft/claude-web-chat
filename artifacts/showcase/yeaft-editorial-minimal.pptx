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NIMAL">
    <p:bg>
      <p:bgPr>
        <a:solidFill>
          <a:srgbClr val="F4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2064" y="25603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10" kern="0" dirty="0">
                <a:solidFill>
                  <a:srgbClr val="1D1D1B"/>
                </a:solidFill>
              </a:rPr>
              <a:t>YEAFT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512064" y="521208"/>
            <a:ext cx="11155680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93268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PRODUCT OVERVIEW · 2026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03504" y="1353312"/>
            <a:ext cx="457200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The AI engineering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workstation.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21792" y="2907792"/>
            <a:ext cx="4160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86761"/>
                </a:solidFill>
              </a:rPr>
              <a:t>One continuous environment for conversation, specialist collaboration, development tools, review, and durable execution.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21792" y="4160520"/>
            <a:ext cx="292608" cy="0"/>
          </a:xfrm>
          <a:prstGeom prst="line">
            <a:avLst/>
          </a:prstGeom>
          <a:noFill/>
          <a:ln w="17780">
            <a:solidFill>
              <a:srgbClr val="8B5E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33272" y="4110228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686761"/>
                </a:solidFill>
              </a:rPr>
              <a:t>ONE TASK · ONE TEAM · ONE FLOW</a:t>
            </a:r>
            <a:endParaRPr lang="en-US" sz="700" dirty="0"/>
          </a:p>
        </p:txBody>
      </p:sp>
      <p:pic>
        <p:nvPicPr>
          <p:cNvPr id="7" name="Image 0" descr="/home/azureuser/projects/yeaft-web-code-agent/.yeaft/worktrees/fix-pr-1669-review-blockers/artifacts/showcase/assets/01-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66360" y="1663922"/>
            <a:ext cx="6080760" cy="34204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166360" y="1663922"/>
            <a:ext cx="6080760" cy="3420428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30352" y="6473952"/>
            <a:ext cx="7772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6938B"/>
                </a:solidFill>
              </a:rPr>
              <a:t>Real Yeaft Web UI · Staged demonstration data</a:t>
            </a:r>
            <a:endParaRPr lang="en-US" sz="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THE PROBLEM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AI can answer quickly. Engineering still breaks between the answers.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real cost appears in handoffs, missing context, unverifiable claims, and work that stops when a chat turn ends.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40080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Context fragments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Work is reconstructed across devices, chats, terminals, and review tools.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56432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456432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Ownership blurs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56432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It becomes unclear who implemented, who reviewed, and what happens next.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72784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272784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Evidence disappears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72784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The answer survives; the exact files, commands, diffs, and outcomes do not.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89136" y="260604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089136" y="29535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Momentum resets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89136" y="3410712"/>
            <a:ext cx="2240280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Longer goals lose durable state, attempts, dependencies, and acceptance checks.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40080" y="5175504"/>
            <a:ext cx="10625328" cy="0"/>
          </a:xfrm>
          <a:prstGeom prst="line">
            <a:avLst/>
          </a:prstGeom>
          <a:noFill/>
          <a:ln w="12700">
            <a:solidFill>
              <a:srgbClr val="D7D2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46811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The missing product is continuity.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THE YEAFT IDEA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Keep one task identity while the work changes form.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Devices, specialists, tools, and timescales can change without breaking the engineering story.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960120" y="3657600"/>
            <a:ext cx="9738360" cy="0"/>
          </a:xfrm>
          <a:prstGeom prst="line">
            <a:avLst/>
          </a:prstGeom>
          <a:noFill/>
          <a:ln w="16510">
            <a:solidFill>
              <a:srgbClr val="D7D2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88136" y="3547872"/>
            <a:ext cx="219456" cy="219456"/>
          </a:xfrm>
          <a:prstGeom prst="rect">
            <a:avLst/>
          </a:prstGeom>
          <a:solidFill>
            <a:srgbClr val="8B5E3C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01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658368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Respond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from anywhere</a:t>
            </a:r>
            <a:endParaRPr lang="en-US" sz="870" dirty="0"/>
          </a:p>
        </p:txBody>
      </p:sp>
      <p:sp>
        <p:nvSpPr>
          <p:cNvPr id="10" name="Shape 8"/>
          <p:cNvSpPr/>
          <p:nvPr/>
        </p:nvSpPr>
        <p:spPr>
          <a:xfrm>
            <a:off x="3355848" y="3547872"/>
            <a:ext cx="219456" cy="219456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18104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02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2926080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Assign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926080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the right specialist</a:t>
            </a:r>
            <a:endParaRPr lang="en-US" sz="870" dirty="0"/>
          </a:p>
        </p:txBody>
      </p:sp>
      <p:sp>
        <p:nvSpPr>
          <p:cNvPr id="14" name="Shape 12"/>
          <p:cNvSpPr/>
          <p:nvPr/>
        </p:nvSpPr>
        <p:spPr>
          <a:xfrm>
            <a:off x="5623560" y="3547872"/>
            <a:ext cx="219456" cy="219456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85816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03</a:t>
            </a:r>
            <a:endParaRPr lang="en-US" sz="700" dirty="0"/>
          </a:p>
        </p:txBody>
      </p:sp>
      <p:sp>
        <p:nvSpPr>
          <p:cNvPr id="16" name="Text 14"/>
          <p:cNvSpPr/>
          <p:nvPr/>
        </p:nvSpPr>
        <p:spPr>
          <a:xfrm>
            <a:off x="5193792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Build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93792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in the workspace</a:t>
            </a:r>
            <a:endParaRPr lang="en-US" sz="870" dirty="0"/>
          </a:p>
        </p:txBody>
      </p:sp>
      <p:sp>
        <p:nvSpPr>
          <p:cNvPr id="18" name="Shape 16"/>
          <p:cNvSpPr/>
          <p:nvPr/>
        </p:nvSpPr>
        <p:spPr>
          <a:xfrm>
            <a:off x="7891272" y="3547872"/>
            <a:ext cx="219456" cy="219456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53528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04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7461504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Review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461504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independently</a:t>
            </a:r>
            <a:endParaRPr lang="en-US" sz="870" dirty="0"/>
          </a:p>
        </p:txBody>
      </p:sp>
      <p:sp>
        <p:nvSpPr>
          <p:cNvPr id="22" name="Shape 20"/>
          <p:cNvSpPr/>
          <p:nvPr/>
        </p:nvSpPr>
        <p:spPr>
          <a:xfrm>
            <a:off x="10158984" y="3547872"/>
            <a:ext cx="219456" cy="219456"/>
          </a:xfrm>
          <a:prstGeom prst="rect">
            <a:avLst/>
          </a:prstGeom>
          <a:solidFill>
            <a:srgbClr val="8B5E3C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21240" y="3108960"/>
            <a:ext cx="69494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686761"/>
                </a:solidFill>
              </a:rPr>
              <a:t>05</a:t>
            </a:r>
            <a:endParaRPr lang="en-US" sz="700" dirty="0"/>
          </a:p>
        </p:txBody>
      </p:sp>
      <p:sp>
        <p:nvSpPr>
          <p:cNvPr id="24" name="Text 22"/>
          <p:cNvSpPr/>
          <p:nvPr/>
        </p:nvSpPr>
        <p:spPr>
          <a:xfrm>
            <a:off x="9729216" y="4169664"/>
            <a:ext cx="1417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D1D1B"/>
                </a:solidFill>
              </a:rPr>
              <a:t>Continue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729216" y="4517136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until accepted</a:t>
            </a:r>
            <a:endParaRPr lang="en-US" sz="870" dirty="0"/>
          </a:p>
        </p:txBody>
      </p:sp>
      <p:sp>
        <p:nvSpPr>
          <p:cNvPr id="26" name="Shape 24"/>
          <p:cNvSpPr/>
          <p:nvPr/>
        </p:nvSpPr>
        <p:spPr>
          <a:xfrm>
            <a:off x="4791456" y="5413248"/>
            <a:ext cx="292608" cy="0"/>
          </a:xfrm>
          <a:prstGeom prst="line">
            <a:avLst/>
          </a:prstGeom>
          <a:noFill/>
          <a:ln w="17780">
            <a:solidFill>
              <a:srgbClr val="8B5E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202936" y="5362956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686761"/>
                </a:solidFill>
              </a:rPr>
              <a:t>ONE SHARED CONTEXT</a:t>
            </a:r>
            <a:endParaRPr lang="en-US" sz="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93268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01 · ACCESS ANYWHERE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03504" y="1389888"/>
            <a:ext cx="41148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Leave the desk.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Keep the context.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21792" y="2734056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86761"/>
                </a:solidFill>
              </a:rPr>
              <a:t>Open the same Session from another device. Inspect progress, answer a blocker, and provide the next instruction without rebuilding the task.</a:t>
            </a:r>
            <a:endParaRPr lang="en-US" sz="1120" dirty="0"/>
          </a:p>
        </p:txBody>
      </p:sp>
      <p:sp>
        <p:nvSpPr>
          <p:cNvPr id="5" name="Text 3"/>
          <p:cNvSpPr/>
          <p:nvPr/>
        </p:nvSpPr>
        <p:spPr>
          <a:xfrm>
            <a:off x="621792" y="4251960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01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78992" y="421538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Same Session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21792" y="4727448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02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078992" y="469087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Same project context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21792" y="5202936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03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1078992" y="51663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Same connected Agent</a:t>
            </a:r>
            <a:endParaRPr lang="en-US" sz="1100" dirty="0"/>
          </a:p>
        </p:txBody>
      </p:sp>
      <p:pic>
        <p:nvPicPr>
          <p:cNvPr id="11" name="Image 0" descr="/home/azureuser/projects/yeaft-web-code-agent/.yeaft/worktrees/fix-pr-1669-review-blockers/artifacts/showcase/assets/04-session-conver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4077" y="896112"/>
            <a:ext cx="6120150" cy="516636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014077" y="896112"/>
            <a:ext cx="6120150" cy="516636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02 · SHARED SESSION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One conversation. One goal. A visible team.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Session is the collaboration boundary—not another disconnected chat mode.</a:t>
            </a:r>
            <a:endParaRPr lang="en-US" sz="1050" dirty="0"/>
          </a:p>
        </p:txBody>
      </p:sp>
      <p:pic>
        <p:nvPicPr>
          <p:cNvPr id="5" name="Image 0" descr="/home/azureuser/projects/yeaft-web-code-agent/.yeaft/worktrees/fix-pr-1669-review-blockers/artifacts/showcase/assets/05-session-ro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70609" y="2487168"/>
            <a:ext cx="2531766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670609" y="2487168"/>
            <a:ext cx="2531766" cy="347472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26680" y="257860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CONVERSATION</a:t>
            </a:r>
            <a:endParaRPr lang="en-US" sz="730" dirty="0"/>
          </a:p>
        </p:txBody>
      </p:sp>
      <p:sp>
        <p:nvSpPr>
          <p:cNvPr id="8" name="Text 5"/>
          <p:cNvSpPr/>
          <p:nvPr/>
        </p:nvSpPr>
        <p:spPr>
          <a:xfrm>
            <a:off x="8988552" y="255117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A continuous narrative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726680" y="3017520"/>
            <a:ext cx="3456432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26680" y="340156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ROSTER</a:t>
            </a:r>
            <a:endParaRPr lang="en-US" sz="730" dirty="0"/>
          </a:p>
        </p:txBody>
      </p:sp>
      <p:sp>
        <p:nvSpPr>
          <p:cNvPr id="11" name="Text 8"/>
          <p:cNvSpPr/>
          <p:nvPr/>
        </p:nvSpPr>
        <p:spPr>
          <a:xfrm>
            <a:off x="8988552" y="337413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1..N Virtual Persons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7726680" y="3840480"/>
            <a:ext cx="3456432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726680" y="422452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CONTEXT</a:t>
            </a:r>
            <a:endParaRPr lang="en-US" sz="730" dirty="0"/>
          </a:p>
        </p:txBody>
      </p:sp>
      <p:sp>
        <p:nvSpPr>
          <p:cNvPr id="14" name="Text 11"/>
          <p:cNvSpPr/>
          <p:nvPr/>
        </p:nvSpPr>
        <p:spPr>
          <a:xfrm>
            <a:off x="8988552" y="419709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Project stays attached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726680" y="4663440"/>
            <a:ext cx="3456432" cy="0"/>
          </a:xfrm>
          <a:prstGeom prst="line">
            <a:avLst/>
          </a:prstGeom>
          <a:noFill/>
          <a:ln w="8890">
            <a:solidFill>
              <a:srgbClr val="D7D2C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26680" y="5047488"/>
            <a:ext cx="1143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80" kern="0" dirty="0">
                <a:solidFill>
                  <a:srgbClr val="8B5E3C"/>
                </a:solidFill>
              </a:rPr>
              <a:t>OWNERSHIP</a:t>
            </a:r>
            <a:endParaRPr lang="en-US" sz="730" dirty="0"/>
          </a:p>
        </p:txBody>
      </p:sp>
      <p:sp>
        <p:nvSpPr>
          <p:cNvPr id="17" name="Text 14"/>
          <p:cNvSpPr/>
          <p:nvPr/>
        </p:nvSpPr>
        <p:spPr>
          <a:xfrm>
            <a:off x="8988552" y="5020056"/>
            <a:ext cx="21945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D1D1B"/>
                </a:solidFill>
              </a:rPr>
              <a:t>Results stay attributable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03 · VIRTUAL PERSONS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Not more chatbots. A separation of duties.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Distinct judgment, skills, and responsibility applied to one shared engineering outcome.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30+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8580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specialized Virtual Persons available to join a Session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7472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1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347472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shared Session keeps the active goal coherent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6364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N</a:t>
            </a:r>
            <a:endParaRPr lang="en-US" sz="3400" dirty="0"/>
          </a:p>
        </p:txBody>
      </p:sp>
      <p:sp>
        <p:nvSpPr>
          <p:cNvPr id="12" name="Shape 10"/>
          <p:cNvSpPr/>
          <p:nvPr/>
        </p:nvSpPr>
        <p:spPr>
          <a:xfrm>
            <a:off x="626364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specialists contribute where responsibility is clear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52560" y="2670048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✓</a:t>
            </a:r>
            <a:endParaRPr lang="en-US" sz="3400" dirty="0"/>
          </a:p>
        </p:txBody>
      </p:sp>
      <p:sp>
        <p:nvSpPr>
          <p:cNvPr id="15" name="Shape 13"/>
          <p:cNvSpPr/>
          <p:nvPr/>
        </p:nvSpPr>
        <p:spPr>
          <a:xfrm>
            <a:off x="9052560" y="3355848"/>
            <a:ext cx="2286000" cy="0"/>
          </a:xfrm>
          <a:prstGeom prst="line">
            <a:avLst/>
          </a:prstGeom>
          <a:noFill/>
          <a:ln w="25400">
            <a:solidFill>
              <a:srgbClr val="8B5E3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52560" y="3502152"/>
            <a:ext cx="2286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attributable output preserves accountability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5074920"/>
            <a:ext cx="9784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D1D1B"/>
                </a:solidFill>
              </a:rPr>
              <a:t>Specialization matters only when the boundaries are explicit.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COLLABORATION IN PRACTICE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Implementation and review are different jobs.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Explicit routing turns multiple specialists into an accountable team.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68680" y="27432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868680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LINUS · BUILD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68680" y="3547872"/>
            <a:ext cx="2926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Investigate the root cause. Make the smallest correct change. Record concrete verification.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394192" y="2743200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394192" y="30906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MARTIN · REVIEW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394192" y="3547872"/>
            <a:ext cx="292608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Check the exact revision, full diff, regression risk, and delivery state independently.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005072" y="3456432"/>
            <a:ext cx="4160520" cy="0"/>
          </a:xfrm>
          <a:prstGeom prst="line">
            <a:avLst/>
          </a:prstGeom>
          <a:noFill/>
          <a:ln w="22860">
            <a:solidFill>
              <a:srgbClr val="8B5E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82128" y="3273552"/>
            <a:ext cx="384048" cy="384048"/>
          </a:xfrm>
          <a:prstGeom prst="chevron">
            <a:avLst/>
          </a:prstGeom>
          <a:solidFill>
            <a:srgbClr val="8B5E3C"/>
          </a:solidFill>
          <a:ln w="12700">
            <a:solidFill>
              <a:srgbClr val="8B5E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285232" y="2999232"/>
            <a:ext cx="292608" cy="0"/>
          </a:xfrm>
          <a:prstGeom prst="line">
            <a:avLst/>
          </a:prstGeom>
          <a:noFill/>
          <a:ln w="17780">
            <a:solidFill>
              <a:srgbClr val="8B5E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96712" y="2948940"/>
            <a:ext cx="11612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50" kern="0" dirty="0">
                <a:solidFill>
                  <a:srgbClr val="686761"/>
                </a:solidFill>
              </a:rPr>
              <a:t>EXPLICIT HANDOFF</a:t>
            </a:r>
            <a:endParaRPr lang="en-US" sz="700" dirty="0"/>
          </a:p>
        </p:txBody>
      </p:sp>
      <p:sp>
        <p:nvSpPr>
          <p:cNvPr id="15" name="Text 13"/>
          <p:cNvSpPr/>
          <p:nvPr/>
        </p:nvSpPr>
        <p:spPr>
          <a:xfrm>
            <a:off x="464515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686761"/>
                </a:solidFill>
              </a:rPr>
              <a:t>BLOCKER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56539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APPROVE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3511296" y="5010912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686761"/>
                </a:solidFill>
              </a:rPr>
              <a:t>Sender, recipient, reason, exact result, and next responsibility remain visible.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04 · WORKBENCH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Browse the project. Open a terminal. Verify the work.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engineering environment remains beside the Session instead of disappearing behind an answer.</a:t>
            </a:r>
            <a:endParaRPr lang="en-US" sz="1050" dirty="0"/>
          </a:p>
        </p:txBody>
      </p:sp>
      <p:pic>
        <p:nvPicPr>
          <p:cNvPr id="5" name="Image 0" descr="/home/azureuser/projects/yeaft-web-code-agent/.yeaft/worktrees/fix-pr-1669-review-blockers/artifacts/showcase/assets/08-workbench-files-corre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334006"/>
            <a:ext cx="5376672" cy="33604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" y="2334006"/>
            <a:ext cx="5376672" cy="336042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pic>
        <p:nvPicPr>
          <p:cNvPr id="7" name="Image 1" descr="/home/azureuser/projects/yeaft-web-code-agent/.yeaft/worktrees/fix-pr-1669-review-blockers/artifacts/showcase/assets/08-workbench-terminal-corre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0488" y="2334006"/>
            <a:ext cx="5376672" cy="336042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190488" y="2334006"/>
            <a:ext cx="5376672" cy="336042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40080" y="5852160"/>
            <a:ext cx="502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90" kern="0" dirty="0">
                <a:solidFill>
                  <a:srgbClr val="686761"/>
                </a:solidFill>
              </a:rPr>
              <a:t>FILES</a:t>
            </a:r>
            <a:endParaRPr lang="en-US" sz="750" dirty="0"/>
          </a:p>
        </p:txBody>
      </p:sp>
      <p:sp>
        <p:nvSpPr>
          <p:cNvPr id="10" name="Text 6"/>
          <p:cNvSpPr/>
          <p:nvPr/>
        </p:nvSpPr>
        <p:spPr>
          <a:xfrm>
            <a:off x="1225296" y="581558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6761"/>
                </a:solidFill>
              </a:rPr>
              <a:t>Project tree · open file · code editor</a:t>
            </a:r>
            <a:endParaRPr lang="en-US" sz="880" dirty="0"/>
          </a:p>
        </p:txBody>
      </p:sp>
      <p:sp>
        <p:nvSpPr>
          <p:cNvPr id="11" name="Text 7"/>
          <p:cNvSpPr/>
          <p:nvPr/>
        </p:nvSpPr>
        <p:spPr>
          <a:xfrm>
            <a:off x="6208776" y="5852160"/>
            <a:ext cx="8229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90" kern="0" dirty="0">
                <a:solidFill>
                  <a:srgbClr val="686761"/>
                </a:solidFill>
              </a:rPr>
              <a:t>TERMINAL</a:t>
            </a:r>
            <a:endParaRPr lang="en-US" sz="750" dirty="0"/>
          </a:p>
        </p:txBody>
      </p:sp>
      <p:sp>
        <p:nvSpPr>
          <p:cNvPr id="12" name="Text 8"/>
          <p:cNvSpPr/>
          <p:nvPr/>
        </p:nvSpPr>
        <p:spPr>
          <a:xfrm>
            <a:off x="7150608" y="581558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686761"/>
                </a:solidFill>
              </a:rPr>
              <a:t>Shell prompt · command · verification output</a:t>
            </a:r>
            <a:endParaRPr lang="en-US" sz="8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84124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FEATURE 05 · WORK CENTER · PREVIEW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03504" y="1234440"/>
            <a:ext cx="3931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Longer goals need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1D1D1B"/>
                </a:solidFill>
              </a:rPr>
              <a:t>durable structure.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21792" y="2679192"/>
            <a:ext cx="36118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686761"/>
                </a:solidFill>
              </a:rPr>
              <a:t>Work Center preserves the objective, execution graph, attempts, and acceptance evidence beyond one chat turn.</a:t>
            </a:r>
            <a:endParaRPr lang="en-US" sz="1120" dirty="0"/>
          </a:p>
        </p:txBody>
      </p:sp>
      <p:sp>
        <p:nvSpPr>
          <p:cNvPr id="5" name="Text 3"/>
          <p:cNvSpPr/>
          <p:nvPr/>
        </p:nvSpPr>
        <p:spPr>
          <a:xfrm>
            <a:off x="640080" y="3895344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01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51560" y="3877056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D1B"/>
                </a:solidFill>
              </a:rPr>
              <a:t>WORKITEM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2057400" y="3867912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Goal + acceptance criteria</a:t>
            </a:r>
            <a:endParaRPr lang="en-US" sz="870" dirty="0"/>
          </a:p>
        </p:txBody>
      </p:sp>
      <p:sp>
        <p:nvSpPr>
          <p:cNvPr id="8" name="Text 6"/>
          <p:cNvSpPr/>
          <p:nvPr/>
        </p:nvSpPr>
        <p:spPr>
          <a:xfrm>
            <a:off x="640080" y="4498848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02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51560" y="4480560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D1B"/>
                </a:solidFill>
              </a:rPr>
              <a:t>ACTION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057400" y="4471416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Concrete unit of work</a:t>
            </a:r>
            <a:endParaRPr lang="en-US" sz="870" dirty="0"/>
          </a:p>
        </p:txBody>
      </p:sp>
      <p:sp>
        <p:nvSpPr>
          <p:cNvPr id="11" name="Text 9"/>
          <p:cNvSpPr/>
          <p:nvPr/>
        </p:nvSpPr>
        <p:spPr>
          <a:xfrm>
            <a:off x="640080" y="5102352"/>
            <a:ext cx="3200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B5E3C"/>
                </a:solidFill>
              </a:rPr>
              <a:t>03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51560" y="5084064"/>
            <a:ext cx="960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1D1B"/>
                </a:solidFill>
              </a:rPr>
              <a:t>RUN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2057400" y="5074920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870" dirty="0">
                <a:solidFill>
                  <a:srgbClr val="686761"/>
                </a:solidFill>
              </a:rPr>
              <a:t>One durable attempt</a:t>
            </a:r>
            <a:endParaRPr lang="en-US" sz="870" dirty="0"/>
          </a:p>
        </p:txBody>
      </p:sp>
      <p:pic>
        <p:nvPicPr>
          <p:cNvPr id="14" name="Image 0" descr="/home/azureuser/projects/yeaft-web-code-agent/.yeaft/worktrees/fix-pr-1669-review-blockers/artifacts/showcase/assets/09-work-center-stru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17720" y="1194525"/>
            <a:ext cx="6720840" cy="469755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4617720" y="1194525"/>
            <a:ext cx="6720840" cy="4697550"/>
          </a:xfrm>
          <a:prstGeom prst="rect">
            <a:avLst/>
          </a:prstGeom>
          <a:solidFill>
            <a:srgbClr val="FFFFFF">
              <a:alpha val="0"/>
            </a:srgbClr>
          </a:solidFill>
          <a:ln w="6985">
            <a:solidFill>
              <a:srgbClr val="D7D2C8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CONTROLLED AUTONOMY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Keep moving—without hiding how.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Autonomy is useful only when progress, conflicts, failed attempts, and acceptance checks remain inspectable.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5836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5836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Durable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Status survives beyond one response.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44728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02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344728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Dependency-aware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44728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Actions consume real results, not ceremonial phases.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23620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03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23620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Conflict-aware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23620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Unsafe workspace writes remain controlled.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025128" y="2816352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8B5E3C"/>
                </a:solidFill>
              </a:rPr>
              <a:t>04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025128" y="3163824"/>
            <a:ext cx="22128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D1D1B"/>
                </a:solidFill>
              </a:rPr>
              <a:t>Evidence-gated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9025128" y="3621024"/>
            <a:ext cx="221284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686761"/>
                </a:solidFill>
              </a:rPr>
              <a:t>Completion requires outcomes and acceptance checks.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968496" y="5230368"/>
            <a:ext cx="4251960" cy="530352"/>
          </a:xfrm>
          <a:prstGeom prst="rect">
            <a:avLst/>
          </a:prstGeom>
          <a:solidFill>
            <a:srgbClr val="1D1D1B"/>
          </a:solidFill>
          <a:ln w="12700">
            <a:solidFill>
              <a:srgbClr val="1D1D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78808" y="5413248"/>
            <a:ext cx="382219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80" kern="0" dirty="0">
                <a:solidFill>
                  <a:srgbClr val="FFFFFF"/>
                </a:solidFill>
              </a:rPr>
              <a:t>PERSISTENT  ≠  UNBOUNDED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731520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A COMPLETE USER STORY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66928" y="1069848"/>
            <a:ext cx="9875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1D1D1B"/>
                </a:solidFill>
              </a:rPr>
              <a:t>One production issue. Six accountable moments.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46504"/>
            <a:ext cx="9692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86761"/>
                </a:solidFill>
              </a:rPr>
              <a:t>The product becomes valuable when the features behave as one continuous engineering experience.</a:t>
            </a:r>
            <a:endParaRPr lang="en-US" sz="1050" dirty="0"/>
          </a:p>
        </p:txBody>
      </p:sp>
      <p:sp>
        <p:nvSpPr>
          <p:cNvPr id="5" name="Shape 3"/>
          <p:cNvSpPr/>
          <p:nvPr/>
        </p:nvSpPr>
        <p:spPr>
          <a:xfrm>
            <a:off x="896112" y="3657600"/>
            <a:ext cx="10222992" cy="0"/>
          </a:xfrm>
          <a:prstGeom prst="line">
            <a:avLst/>
          </a:prstGeom>
          <a:noFill/>
          <a:ln w="15240">
            <a:solidFill>
              <a:srgbClr val="D7D2C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96112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01</a:t>
            </a:r>
            <a:endParaRPr lang="en-US" sz="680" dirty="0"/>
          </a:p>
        </p:txBody>
      </p:sp>
      <p:sp>
        <p:nvSpPr>
          <p:cNvPr id="8" name="Text 6"/>
          <p:cNvSpPr/>
          <p:nvPr/>
        </p:nvSpPr>
        <p:spPr>
          <a:xfrm>
            <a:off x="566928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Respond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Answer the blocker</a:t>
            </a:r>
            <a:endParaRPr lang="en-US" sz="820" dirty="0"/>
          </a:p>
        </p:txBody>
      </p:sp>
      <p:sp>
        <p:nvSpPr>
          <p:cNvPr id="10" name="Shape 8"/>
          <p:cNvSpPr/>
          <p:nvPr/>
        </p:nvSpPr>
        <p:spPr>
          <a:xfrm>
            <a:off x="2788920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51176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02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2459736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Implement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459736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Change what is necessary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4681728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43984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03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4352544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Review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352544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Check the exact revision</a:t>
            </a:r>
            <a:endParaRPr lang="en-US" sz="820" dirty="0"/>
          </a:p>
        </p:txBody>
      </p:sp>
      <p:sp>
        <p:nvSpPr>
          <p:cNvPr id="18" name="Shape 16"/>
          <p:cNvSpPr/>
          <p:nvPr/>
        </p:nvSpPr>
        <p:spPr>
          <a:xfrm>
            <a:off x="6574536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36792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04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6245352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Verify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45352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Expose command and Git evidence</a:t>
            </a:r>
            <a:endParaRPr lang="en-US" sz="820" dirty="0"/>
          </a:p>
        </p:txBody>
      </p:sp>
      <p:sp>
        <p:nvSpPr>
          <p:cNvPr id="22" name="Shape 20"/>
          <p:cNvSpPr/>
          <p:nvPr/>
        </p:nvSpPr>
        <p:spPr>
          <a:xfrm>
            <a:off x="8467344" y="3557016"/>
            <a:ext cx="201168" cy="201168"/>
          </a:xfrm>
          <a:prstGeom prst="rect">
            <a:avLst/>
          </a:prstGeom>
          <a:solidFill>
            <a:srgbClr val="FFFFFF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0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05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8138160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Continue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8138160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Preserve Actions and Runs</a:t>
            </a:r>
            <a:endParaRPr lang="en-US" sz="820" dirty="0"/>
          </a:p>
        </p:txBody>
      </p:sp>
      <p:sp>
        <p:nvSpPr>
          <p:cNvPr id="26" name="Shape 24"/>
          <p:cNvSpPr/>
          <p:nvPr/>
        </p:nvSpPr>
        <p:spPr>
          <a:xfrm>
            <a:off x="10360152" y="3557016"/>
            <a:ext cx="201168" cy="201168"/>
          </a:xfrm>
          <a:prstGeom prst="rect">
            <a:avLst/>
          </a:prstGeom>
          <a:solidFill>
            <a:srgbClr val="8B5E3C"/>
          </a:solidFill>
          <a:ln w="13970">
            <a:solidFill>
              <a:srgbClr val="8B5E3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122408" y="3127248"/>
            <a:ext cx="65836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686761"/>
                </a:solidFill>
              </a:rPr>
              <a:t>06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0030968" y="416052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D1D1B"/>
                </a:solidFill>
              </a:rPr>
              <a:t>Deliver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10030968" y="45262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820" dirty="0">
                <a:solidFill>
                  <a:srgbClr val="686761"/>
                </a:solidFill>
              </a:rPr>
              <a:t>Advance on acceptance evidence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2331720" y="5440680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1D1B"/>
                </a:solidFill>
              </a:rPr>
              <a:t>The task never loses its identity.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1078992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86761"/>
                </a:solidFill>
              </a:rPr>
              <a:t>THE OUTCOME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621792" y="1536192"/>
            <a:ext cx="98755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One place to move engineering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1D1D1B"/>
                </a:solidFill>
              </a:rPr>
              <a:t>from request to verified outcome.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3364992"/>
            <a:ext cx="10561320" cy="0"/>
          </a:xfrm>
          <a:prstGeom prst="line">
            <a:avLst/>
          </a:prstGeom>
          <a:noFill/>
          <a:ln w="27940">
            <a:solidFill>
              <a:srgbClr val="8B5E3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3840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B5E3C"/>
                </a:solidFill>
              </a:rPr>
              <a:t>ANYWHERE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658368" y="43159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D1D1B"/>
                </a:solidFill>
              </a:rPr>
              <a:t>Resume the same Session without reconstructing context.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389120" y="3840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B5E3C"/>
                </a:solidFill>
              </a:rPr>
              <a:t>AS A TEAM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89120" y="43159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D1D1B"/>
                </a:solidFill>
              </a:rPr>
              <a:t>Apply explicit roles and independent judgment.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119872" y="38404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10" kern="0" dirty="0">
                <a:solidFill>
                  <a:srgbClr val="8B5E3C"/>
                </a:solidFill>
              </a:rPr>
              <a:t>TO OUTCOME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119872" y="4315968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D1D1B"/>
                </a:solidFill>
              </a:rPr>
              <a:t>Connect tools, evidence, and durable execution.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58368" y="57790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20" kern="0" dirty="0">
                <a:solidFill>
                  <a:srgbClr val="1D1D1B"/>
                </a:solidFill>
              </a:rPr>
              <a:t>YEAFT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30352" y="6473952"/>
            <a:ext cx="77724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96938B"/>
                </a:solidFill>
              </a:rPr>
              <a:t>Work Center is a Preview capability.</a:t>
            </a:r>
            <a:endParaRPr lang="en-US" sz="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73952"/>
            <a:ext cx="457200" cy="146304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700">
                <a:solidFill>
                  <a:srgbClr val="9297A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Yeaft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Yeaft — AI Engineering Workstation</dc:title>
  <dc:subject>Yeaft product overview</dc:subject>
  <dc:creator>Yeaft</dc:creator>
  <cp:lastModifiedBy>Yeaft</cp:lastModifiedBy>
  <cp:revision>1</cp:revision>
  <dcterms:created xsi:type="dcterms:W3CDTF">2026-09-03T11:11:16Z</dcterms:created>
  <dcterms:modified xsi:type="dcterms:W3CDTF">2026-09-03T11:11:16Z</dcterms:modified>
</cp:coreProperties>
</file>